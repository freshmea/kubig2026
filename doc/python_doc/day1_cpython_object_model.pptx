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3" autoAdjust="0"/>
    <p:restoredTop sz="94610"/>
  </p:normalViewPr>
  <p:slideViewPr>
    <p:cSldViewPr snapToGrid="0" snapToObjects="1">
      <p:cViewPr>
        <p:scale>
          <a:sx n="116" d="100"/>
          <a:sy n="116" d="100"/>
        </p:scale>
        <p:origin x="102" y="-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007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743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58D0"/>
                </a:solidFill>
              </a:rPr>
              <a:t>Day 1 추가 자료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52120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71B4D"/>
                </a:solidFill>
              </a:rPr>
              <a:t>CPython 인터프리터와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071B4D"/>
                </a:solidFill>
              </a:rPr>
              <a:t>Python 객체 모델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2240280"/>
            <a:ext cx="576072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B58D0"/>
                </a:solidFill>
              </a:rPr>
              <a:t>“Python도 결국 C 런타임 위에서 동작한다”를 정확히 이해하기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" y="2880360"/>
            <a:ext cx="4480560" cy="1472184"/>
          </a:xfrm>
          <a:prstGeom prst="roundRect">
            <a:avLst>
              <a:gd name="adj" fmla="val 5714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822960" y="3072384"/>
            <a:ext cx="4023360" cy="107948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Python 코드 → bytecode → CPython VM 실행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값은 모두 객체로 표현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함수 인자와 반환값은 객체 참조로 이동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20840" y="141732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031736" y="1572768"/>
            <a:ext cx="274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8D0"/>
                </a:solidFill>
              </a:rPr>
              <a:t>📄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6656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4D"/>
                </a:solidFill>
              </a:rPr>
              <a:t>.py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54112" y="1892808"/>
            <a:ext cx="18288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818120" y="141732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129016" y="1572768"/>
            <a:ext cx="274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8D0"/>
                </a:solidFill>
              </a:rPr>
              <a:t>⚙️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6384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4D"/>
                </a:solidFill>
              </a:rPr>
              <a:t>Bytecode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851392" y="1892808"/>
            <a:ext cx="18288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915400" y="141732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EEF6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226296" y="1572768"/>
            <a:ext cx="274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8D0"/>
                </a:solidFill>
              </a:rPr>
              <a:t>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6112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4D"/>
                </a:solidFill>
              </a:rPr>
              <a:t>CPython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71B4D"/>
                </a:solidFill>
              </a:rPr>
              <a:t>VM(C)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948672" y="1892808"/>
            <a:ext cx="18288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0012680" y="1417320"/>
            <a:ext cx="10058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0323576" y="1572768"/>
            <a:ext cx="274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B58D0"/>
                </a:solidFill>
              </a:rPr>
              <a:t>📦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0" y="1993392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71B4D"/>
                </a:solidFill>
              </a:rPr>
              <a:t>PyObject*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0" y="2907792"/>
            <a:ext cx="4480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4D"/>
                </a:solidFill>
              </a:rPr>
              <a:t>Python의 “유연함”은 CPython 내부의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71B4D"/>
                </a:solidFill>
              </a:rPr>
              <a:t>통일된 객체 모델이 처리합니다.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1. Python은 C로 “컴파일”되는가?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정확히는 CPython 인터프리터가 C로 작성되어 있고, Python 소스는 bytecode로 컴파일되어 실행됩니다.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61872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58D0"/>
                </a:solidFill>
              </a:rPr>
              <a:t>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224028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B4D"/>
                </a:solidFill>
              </a:rPr>
              <a:t>Python 소스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hello.py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77440" y="2221992"/>
            <a:ext cx="521208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971800" y="16002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502152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58D0"/>
                </a:solidFill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63240" y="224028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B4D"/>
                </a:solidFill>
              </a:rPr>
              <a:t>컴파일 단계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6324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문법 분석/코드 객체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221992"/>
            <a:ext cx="521208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5212080" y="16002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502877" y="1810512"/>
            <a:ext cx="1136820" cy="3520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58D0"/>
                </a:solidFill>
              </a:rPr>
              <a:t>0101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224028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B4D"/>
                </a:solidFill>
              </a:rPr>
              <a:t>Bytecode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pyc, code object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0" y="2221992"/>
            <a:ext cx="521208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452360" y="16002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EEF6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982712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58D0"/>
                </a:solidFill>
              </a:rPr>
              <a:t>🐍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43800" y="224028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B4D"/>
                </a:solidFill>
              </a:rPr>
              <a:t>CPython VM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54380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bytecode 해석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98280" y="2221992"/>
            <a:ext cx="475488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9646920" y="160020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10177272" y="1810512"/>
            <a:ext cx="548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C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738360" y="2240280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1B4D"/>
                </a:solidFill>
              </a:rPr>
              <a:t>C 런타임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38360" y="249631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7085"/>
                </a:solidFill>
              </a:rPr>
              <a:t>PyObject 조작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1520" y="333756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60120" y="3520440"/>
            <a:ext cx="141732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005840" y="357073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오해 바로잡기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60120" y="3886199"/>
            <a:ext cx="4389120" cy="1005839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 lnSpcReduction="10000"/>
          </a:bodyPr>
          <a:lstStyle/>
          <a:p>
            <a:r>
              <a:rPr lang="en-US" sz="1350" dirty="0">
                <a:solidFill>
                  <a:srgbClr val="111827"/>
                </a:solidFill>
              </a:rPr>
              <a:t>일반적인 Python 실행은 C 소스코드로 변환되어 컴파일되는 방식이 아닙니다.
</a:t>
            </a:r>
            <a:endParaRPr lang="en-US" sz="1350" dirty="0"/>
          </a:p>
          <a:p>
            <a:r>
              <a:rPr lang="en-US" sz="1350" dirty="0">
                <a:solidFill>
                  <a:srgbClr val="111827"/>
                </a:solidFill>
              </a:rPr>
              <a:t>CPython은 bytecode를 해석하며, 내부 구현은 C로 되어 있습니다.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172200" y="333756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6400800" y="3520440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6446520" y="3570732"/>
            <a:ext cx="1691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수업에서 강조할 표현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46520" y="3913632"/>
            <a:ext cx="4434840" cy="97840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4D"/>
                </a:solidFill>
              </a:rPr>
              <a:t>“Python 코드의 값과 연산은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71B4D"/>
                </a:solidFill>
              </a:rPr>
              <a:t>C로 작성된 CPython 런타임에서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71B4D"/>
                </a:solidFill>
              </a:rPr>
              <a:t>PyObject* 객체 모델로 처리된다.”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2. C의 primitive vs Python의 객체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C는 변수의 메모리 크기와 타입이 먼저 정해지고, Python은 모든 값이 객체로 표현됩니다.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4846320" cy="3474720"/>
          </a:xfrm>
          <a:prstGeom prst="roundRect">
            <a:avLst>
              <a:gd name="adj" fmla="val 2105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1645920"/>
            <a:ext cx="109728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0120" y="169621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 언어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05840" y="205740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15568" y="2167128"/>
            <a:ext cx="20665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y = 3.14;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c = 'A';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66160" y="214884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변수 자체가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정해진 타입의 메모리 공간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794760"/>
            <a:ext cx="4114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</a:rPr>
              <a:t>값 중심 · 고정 크기 · 컴파일 타임 타입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0" y="1417320"/>
            <a:ext cx="4846320" cy="3474720"/>
          </a:xfrm>
          <a:prstGeom prst="roundRect">
            <a:avLst>
              <a:gd name="adj" fmla="val 2105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812280" y="1645920"/>
            <a:ext cx="1280160" cy="256032"/>
          </a:xfrm>
          <a:prstGeom prst="roundRect">
            <a:avLst>
              <a:gd name="adj" fmla="val 28571"/>
            </a:avLst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858000" y="1696212"/>
            <a:ext cx="1188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Python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0" y="20574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242048" y="2167128"/>
            <a:ext cx="179222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3.14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"A"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72600" y="2148840"/>
            <a:ext cx="1600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이름(name)이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객체(object)를 가리킴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03720" y="3794760"/>
            <a:ext cx="4251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58D0"/>
                </a:solidFill>
              </a:rPr>
              <a:t>객체 중심 · 타입은 객체가 보유 · 런타임 타입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" y="5230368"/>
            <a:ext cx="10607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B4D"/>
                </a:solidFill>
              </a:rPr>
              <a:t>핵심: Python에는 C식 “primitive value variable”이 아니라, 모든 값이 객체입니다.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3. Python 객체의 공통 구조: PyObject*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CPython은 다양한 값을 공통된 “객체 포인터”로 다룹니다.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4937760" cy="3749040"/>
          </a:xfrm>
          <a:prstGeom prst="roundRect">
            <a:avLst>
              <a:gd name="adj" fmla="val 1951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1005840" y="1691640"/>
            <a:ext cx="2423160" cy="256032"/>
          </a:xfrm>
          <a:prstGeom prst="roundRect">
            <a:avLst>
              <a:gd name="adj" fmla="val 28571"/>
            </a:avLst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51560" y="1741932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모든 객체가 공통으로 가진 것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2148840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60704" y="224028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2185416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참조 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697480" y="2185416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D28D9"/>
                </a:solidFill>
              </a:rPr>
              <a:t>ob_refcnt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86200" y="2185416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객체가 몇 군데에서 참조되는지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1560" y="2926080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60704" y="301752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2962656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타입 정보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97480" y="2962656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D28D9"/>
                </a:solidFill>
              </a:rPr>
              <a:t>ob_type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886200" y="2962656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이 객체가 int/list/str인지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1560" y="3703320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060704" y="379476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" y="3739896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실제 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697480" y="3739896"/>
            <a:ext cx="868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D28D9"/>
                </a:solidFill>
              </a:rPr>
              <a:t>payload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886200" y="3739896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타입별 내부 데이터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1417320"/>
            <a:ext cx="47548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629400" y="169164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675120" y="1741932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개념적 메모리 그림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0" y="21488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967728" y="2258568"/>
            <a:ext cx="3346704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PyObject *obj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refcount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type pointer ──▶ PyLong_Type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value data    ──▶ 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7512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그래서 int, list, 함수, 클래스 인스턴스도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공통 규칙으로 전달·저장·반환할 수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4. 변수 선언이 없는 이유: 이름과 객체가 분리됨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Python 변수는 “타입이 있는 상자”가 아니라 “객체에 붙은 이름표”에 가깝습니다.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868680" y="1691640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1741932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C: 변수 = 타입이 정해진 메모리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21488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61288" y="2258568"/>
            <a:ext cx="20665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20;      // OK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"hello"; // 불가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컴파일러가 x를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int 메모리로 해석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20840" y="169164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66560" y="174193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Python: 이름 = 객체 참조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214884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013448" y="2258568"/>
            <a:ext cx="20665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"hello"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[1, 2, 3]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64040" y="233172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58D0"/>
                </a:solidFill>
              </a:rPr>
              <a:t>x라는 이름이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58D0"/>
                </a:solidFill>
              </a:rPr>
              <a:t>다른 객체를 다시 가리킴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01000" y="3886200"/>
            <a:ext cx="1143000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909560" y="3977640"/>
            <a:ext cx="14630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name → object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5330952"/>
            <a:ext cx="106070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71B4D"/>
                </a:solidFill>
              </a:rPr>
              <a:t>동적 타이핑 = 이름이 아니라 “객체”가 타입을 가진다.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256032"/>
            <a:ext cx="9506053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5. 함수 인자: 타입 선언 없이 모든 객체가 넘어가는 이유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함수 호출 시 인자는 값 자체를 복사하기보다 객체 참조를 전달하는 방식으로 동작합니다.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3108960" cy="219456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32688" y="1618488"/>
            <a:ext cx="2889504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show(x):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print(type(x), x)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show(10)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show("hello")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show([1, 2, 3])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60520" y="2560320"/>
            <a:ext cx="868680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166360" y="1508760"/>
            <a:ext cx="2194560" cy="2194560"/>
          </a:xfrm>
          <a:prstGeom prst="roundRect">
            <a:avLst>
              <a:gd name="adj" fmla="val 3333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57784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함수 프레임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89320" y="2331720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8D0"/>
                </a:solidFill>
              </a:rPr>
              <a:t>x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126480" y="2606040"/>
            <a:ext cx="868680" cy="36576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680960" y="137160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818120" y="1481328"/>
            <a:ext cx="822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int 객체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006840" y="1444752"/>
            <a:ext cx="777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4D"/>
                </a:solidFill>
              </a:rPr>
              <a:t>10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80960" y="233172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818120" y="2441448"/>
            <a:ext cx="822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str 객체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006840" y="2404872"/>
            <a:ext cx="777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4D"/>
                </a:solidFill>
              </a:rPr>
              <a:t>hello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80960" y="3291840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818120" y="3401568"/>
            <a:ext cx="822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list 객체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006840" y="3364992"/>
            <a:ext cx="777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4D"/>
                </a:solidFill>
              </a:rPr>
              <a:t>[1,2,3]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22960" y="4160520"/>
            <a:ext cx="9326880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1097280" y="4370832"/>
            <a:ext cx="87782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핵심: C 함수처럼 int, double, char*를 각각 선언하지 않아도 됩니다.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CPython 런타임은 “객체 포인터 + 타입 정보”를 보고 실행 중에 처리합니다.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6. 반환값: return은 객체 하나를 돌려준다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여러 값을 반환하는 것처럼 보이는 코드는 실제로 tuple 객체 하나를 반환합니다.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508760"/>
            <a:ext cx="347472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86968" y="1618488"/>
            <a:ext cx="325526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read_sensor():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 = 24.5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humi = 60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temp, humi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read_sensor()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== (24.5, 60)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80560" y="2560320"/>
            <a:ext cx="1143000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760720" y="169164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199632" y="1874520"/>
            <a:ext cx="14630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B4D"/>
                </a:solidFill>
              </a:rPr>
              <a:t>tuple 객체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2377440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58D0"/>
                </a:solidFill>
              </a:rPr>
              <a:t>(24.5, 60)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458200" y="2560320"/>
            <a:ext cx="822960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9464040" y="1691640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82980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언패킹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74352" y="2395728"/>
            <a:ext cx="13716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</a:rPr>
              <a:t>t, h = result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05840" y="4297680"/>
            <a:ext cx="9784080" cy="73152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234440" y="4507992"/>
            <a:ext cx="9326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71B4D"/>
                </a:solidFill>
              </a:rPr>
              <a:t>“여러 개를 반환한다” → CPython 관점에서는 tuple 객체 하나가 반환되고, 이후 이름에 나누어 바인딩됩니다.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7. *args와 **kwargs: tuple과 dict로 인자 받기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Python 함수는 위치 인자를 tuple로, 키워드 인자를 dict로 모아 받을 수 있습니다.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08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132588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14400" y="160020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60120" y="165049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*args → tuple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60120" y="201168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069848" y="2121408"/>
            <a:ext cx="41696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log_values(*args):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print(args)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log_values(10, 20, 30)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(10, 20, 30)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4D"/>
                </a:solidFill>
              </a:rPr>
              <a:t>위치 인자의 개수가 유동적일 때 사용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132588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583680" y="16002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629400" y="165049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**kwargs → dict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29400" y="2011680"/>
            <a:ext cx="4389120" cy="1234440"/>
          </a:xfrm>
          <a:prstGeom prst="roundRect">
            <a:avLst>
              <a:gd name="adj" fmla="val 5926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739128" y="2121408"/>
            <a:ext cx="416966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config(**kwargs):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print(kwargs)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config(port=5000, debug=True)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{"port": 5000, "debug": True}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29400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1B4D"/>
                </a:solidFill>
              </a:rPr>
              <a:t>키워드 기반 설정값을 유동적으로 받을 때 사용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965192"/>
            <a:ext cx="1042416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함수 설계 포인트: 고정 인자 + *args + **kwargs를 조합하면 확장 가능한 API를 만들 수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8. 런타임 연산: 객체의 타입이 행동을 결정한다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Python은 컴파일 전에 모든 타입을 확정하지 않고, 실행 중 객체의 타입과 메서드를 확인합니다.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09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1645920"/>
            <a:ext cx="15544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32688" y="1755648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+ b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560320" y="1920240"/>
            <a:ext cx="1188720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931920" y="1234440"/>
            <a:ext cx="2194560" cy="1371600"/>
          </a:xfrm>
          <a:prstGeom prst="roundRect">
            <a:avLst>
              <a:gd name="adj" fmla="val 5333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251960" y="1508760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a의 타입 확인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251960" y="1901952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67085"/>
                </a:solidFill>
              </a:rPr>
              <a:t>int? str? list?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1920240"/>
            <a:ext cx="1188720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680960" y="123444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973568" y="1508760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타입의 연산 규칙 실행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000" y="1901952"/>
            <a:ext cx="2240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__add__ / number slot / method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42900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0FDF4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51560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</a:rPr>
              <a:t>10 + 20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76272" y="36118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58D0"/>
                </a:solidFill>
              </a:rPr>
              <a:t>→ 30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4069080"/>
            <a:ext cx="2560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</a:rPr>
              <a:t>숫자 덧셈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342900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709160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</a:rPr>
              <a:t>"a" + "b"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33872" y="36118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58D0"/>
                </a:solidFill>
              </a:rPr>
              <a:t>→ "ab"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4069080"/>
            <a:ext cx="2560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</a:rPr>
              <a:t>문자열 결합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600" y="3429000"/>
            <a:ext cx="2971800" cy="1005840"/>
          </a:xfrm>
          <a:prstGeom prst="roundRect">
            <a:avLst>
              <a:gd name="adj" fmla="val 7273"/>
            </a:avLst>
          </a:prstGeom>
          <a:solidFill>
            <a:srgbClr val="FFF7ED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8366760" y="3611880"/>
            <a:ext cx="1005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</a:rPr>
              <a:t>[1] + [2]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91472" y="3611880"/>
            <a:ext cx="822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58D0"/>
                </a:solidFill>
              </a:rPr>
              <a:t>→ [1,2]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66760" y="4069080"/>
            <a:ext cx="25603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67085"/>
                </a:solidFill>
              </a:rPr>
              <a:t>리스트 결합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68680" y="5102352"/>
            <a:ext cx="10332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B4D"/>
                </a:solidFill>
              </a:rPr>
              <a:t>같은 연산자라도 객체의 타입에 따라 다른 C 내부 함수/메서드가 호출됩니다.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580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9. C에서는 왜 불편하고, Python에서는 왜 자연스러운가?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C도 void*와 type tag를 직접 만들면 흉내낼 수 있지만, 언어 차원에서 자동 제공되지는 않습니다.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10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146304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60120" y="1700784"/>
            <a:ext cx="1920240" cy="256032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005840" y="1751076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C에서 직접 구현한다면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51560" y="2103119"/>
            <a:ext cx="2560320" cy="1628621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161288" y="2212848"/>
            <a:ext cx="23408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type;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void* data;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Object;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add(Object a, Object b);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2240280"/>
            <a:ext cx="1645920" cy="8229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타입 태그를 직접 검사
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메모리 해제 직접 관리
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연산별 분기 코드 증가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720840" y="1700784"/>
            <a:ext cx="2286000" cy="256032"/>
          </a:xfrm>
          <a:prstGeom prst="roundRect">
            <a:avLst>
              <a:gd name="adj" fmla="val 28571"/>
            </a:avLst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766560" y="1751076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Python에서는 런타임이 담당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03720" y="21031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013448" y="2212848"/>
            <a:ext cx="19751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2084832"/>
            <a:ext cx="1920240" cy="91440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r>
              <a:rPr lang="en-US" sz="1250" dirty="0">
                <a:solidFill>
                  <a:srgbClr val="111827"/>
                </a:solidFill>
              </a:rPr>
              <a:t>객체마다 타입 정보 보유
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참조 카운트로 수명 관리
</a:t>
            </a:r>
            <a:endParaRPr lang="en-US" sz="1250" dirty="0"/>
          </a:p>
          <a:p>
            <a:r>
              <a:rPr lang="en-US" sz="1250" dirty="0">
                <a:solidFill>
                  <a:srgbClr val="111827"/>
                </a:solidFill>
              </a:rPr>
              <a:t>연산 규칙을 런타임이 선택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10607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71B4D"/>
                </a:solidFill>
              </a:rPr>
              <a:t>Python의 편리함은 “마법”이 아니라, CPython 런타임이 C 레벨에서 객체·타입·참조 관리를 해주기 때문입니다.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10. mutable 객체와 참조: 함수 안에서 바뀌는 이유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인자로 넘어오는 것은 객체의 복사본이 아니라 객체를 가리키는 참조입니다.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11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3840480" cy="2331720"/>
          </a:xfrm>
          <a:prstGeom prst="roundRect">
            <a:avLst>
              <a:gd name="adj" fmla="val 3137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86968" y="1527048"/>
            <a:ext cx="362102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push(data):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data.append(100)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= [1, 2]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push(values)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print(values)  # [1, 2, 100]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212080" y="1417320"/>
            <a:ext cx="2194560" cy="2331720"/>
          </a:xfrm>
          <a:prstGeom prst="roundRect">
            <a:avLst>
              <a:gd name="adj" fmla="val 3333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779008" y="1737360"/>
            <a:ext cx="1005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58D0"/>
                </a:solidFill>
              </a:rPr>
              <a:t>values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1600200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870448" y="2651760"/>
            <a:ext cx="9144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A34A"/>
                </a:solidFill>
              </a:rPr>
              <a:t>data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160020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2377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549640" y="1828800"/>
            <a:ext cx="1097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B4D"/>
                </a:solidFill>
              </a:rPr>
              <a:t>list 객체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2331720"/>
            <a:ext cx="1417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</a:rPr>
              <a:t>[1, 2, 100]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68680" y="429768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051560" y="4553712"/>
            <a:ext cx="96012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71B4D"/>
                </a:solidFill>
              </a:rPr>
              <a:t>핵심: 이름은 여러 개여도 같은 list 객체를 가리키면, 그 객체 내부 변경이 모두에게 보입니다.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11. 타입 힌트는 선언이 아니라 “설명”에 가깝다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Python의 type hint는 코드 가독성과 정적 분석을 위한 도구이며, 기본 런타임에서 자동 강제되지는 않습니다.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32688" y="1618488"/>
            <a:ext cx="4352544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area(width: int, height: int) -&gt; int: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width * height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area(3, 4)       # 12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area("3", 4)     # "3333"  (런타임에서 실행 가능)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150876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309360" y="173736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55080" y="178765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타입 힌트의 역할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2121408"/>
            <a:ext cx="4114800" cy="8229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IDE 자동완성 및 문서화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mypy/pyright 같은 정적 검사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팀 협업 시 함수 계약을 명확히 표시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39" y="4160520"/>
            <a:ext cx="10518895" cy="732756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188720" y="4443984"/>
            <a:ext cx="101041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71B4D"/>
                </a:solidFill>
              </a:rPr>
              <a:t>정리: C는 선언이 실행 가능성을 좌우하지만, Python의 타입 힌트는 기본적으로 런타임 동작을 바꾸지 않습니다.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12. CPython 관점의 함수 호출 모델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실제 내부 구현은 복잡하지만, 개념적으로는 PyObject*를 받고 PyObject*를 돌려주는 구조로 이해할 수 있습니다.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13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13258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41248" y="1435608"/>
            <a:ext cx="36210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f(a, b=10, *args, **kwargs):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a, b, args, kwargs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822960" cy="0"/>
          </a:xfrm>
          <a:prstGeom prst="line">
            <a:avLst/>
          </a:prstGeom>
          <a:noFill/>
          <a:ln w="25400">
            <a:solidFill>
              <a:srgbClr val="0B58D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715000" y="132588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824728" y="1435608"/>
            <a:ext cx="508406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C-level conceptual model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PyObject* f(PyObject* args, PyObject* kwargs)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tuple(args), dict(kwargs) 해석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객체 참조로 계산 수행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result_object;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862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014984" y="408736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1024128" y="41788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4041648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1B4D"/>
                </a:solidFill>
              </a:rPr>
              <a:t>위치 인자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27048" y="431596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tuple 형태로 묶임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0" y="38862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803904" y="4087368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813048" y="41788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15968" y="4041648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1B4D"/>
                </a:solidFill>
              </a:rPr>
              <a:t>키워드 인자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315968" y="431596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dict 형태로 전달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38862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592824" y="408736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601968" y="41788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104888" y="4041648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1B4D"/>
                </a:solidFill>
              </a:rPr>
              <a:t>기본값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104888" y="431596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함수 객체가 보관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235440" y="38862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9381744" y="4087368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390888" y="417880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893808" y="4041648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71B4D"/>
                </a:solidFill>
              </a:rPr>
              <a:t>반환값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93808" y="4315968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PyObject* 하나 반환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13. 수업 실습 데모: “모든 것은 객체” 확인하기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짧은 코드로 Python의 객체 모델과 동적 타이핑을 직접 관찰합니다.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14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325880"/>
            <a:ext cx="438912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CFDD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86968" y="1435608"/>
            <a:ext cx="4169664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10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print(type(x), id(x))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"hello"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print(type(x), id(x))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check(obj):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print(type(obj), obj)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check(123)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check([1, 2])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check({"temp": 24.5})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715000" y="132588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989320" y="1600200"/>
            <a:ext cx="1371600" cy="256032"/>
          </a:xfrm>
          <a:prstGeom prst="roundRect">
            <a:avLst>
              <a:gd name="adj" fmla="val 28571"/>
            </a:avLst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35040" y="1650492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관찰 포인트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80760" y="2011679"/>
            <a:ext cx="4480560" cy="2214331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ctr">
            <a:normAutofit/>
          </a:bodyPr>
          <a:lstStyle/>
          <a:p>
            <a:r>
              <a:rPr lang="en-US" sz="1400" dirty="0">
                <a:solidFill>
                  <a:srgbClr val="111827"/>
                </a:solidFill>
              </a:rPr>
              <a:t>x는 타입을 바꾸는 것이 아니라 다른 객체를 다시 가리킵니다.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type(obj)는 객체의 타입 정보를 보여줍니다.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id(obj)는 객체의 식별값을 보여줍니다.
</a:t>
            </a:r>
            <a:endParaRPr lang="en-US" sz="1400" dirty="0"/>
          </a:p>
          <a:p>
            <a:r>
              <a:rPr lang="en-US" sz="1400" dirty="0">
                <a:solidFill>
                  <a:srgbClr val="111827"/>
                </a:solidFill>
              </a:rPr>
              <a:t>함수는 int/list/dict를 같은 파라미터 obj로 받을 수 있습니다.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4983480"/>
            <a:ext cx="10241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B4D"/>
                </a:solidFill>
              </a:rPr>
              <a:t>토론 질문: C로 같은 함수를 만들려면 어떤 구조체와 분기 코드가 필요할까요?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96543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14. 한 장 정리: Python의 차별화는 객체 모델에서 나온다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CPython은 C로 구현되지만, Python 사용자는 통일된 객체 모델 위에서 높은 생산성을 얻습니다.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15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41832" y="1673352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50976" y="17647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2704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모든 값은 객체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27048" y="1965960"/>
            <a:ext cx="2103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primitive value가 아니라 object 중심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36592" y="1673352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45736" y="17647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180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이름은 참조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21808" y="1965960"/>
            <a:ext cx="2103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변수 선언 없이 객체를 가리킴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366760" y="141732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531352" y="1673352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8540496" y="17647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16568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타입은 런타임에 확인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16568" y="1965960"/>
            <a:ext cx="2103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동적 타이핑과 duck typing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77240" y="28346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41832" y="3090672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50976" y="318211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27048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인자/반환은 객체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527048" y="3383280"/>
            <a:ext cx="21031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tuple, dict, list, 함수까지 전달 가능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0" y="28346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4736592" y="3090672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45736" y="318211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21808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메모리는 런타임 관리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21808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참조 카운트와 GC가 보조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66760" y="283464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6FAFF"/>
          </a:solidFill>
          <a:ln w="12700">
            <a:solidFill>
              <a:srgbClr val="B8D1F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8531352" y="3090672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8540496" y="318211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116568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C와 연결 가능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116568" y="3383280"/>
            <a:ext cx="21031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085"/>
                </a:solidFill>
              </a:rPr>
              <a:t>확장 모듈/바인딩으로 성능 보완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14400" y="4617720"/>
            <a:ext cx="10332720" cy="685800"/>
          </a:xfrm>
          <a:prstGeom prst="roundRect">
            <a:avLst>
              <a:gd name="adj" fmla="val 10667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143000" y="4818888"/>
            <a:ext cx="9875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71B4D"/>
                </a:solidFill>
              </a:rPr>
              <a:t>수업 메시지: Python의 쉬운 문법 뒤에는 CPython의 C 기반 객체 시스템이 있으며, 이 구조를 이해하면 함수·타입·메모리·바인딩을 더 정확히 설명할 수 있습니다.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71B4D"/>
                </a:solidFill>
              </a:rPr>
              <a:t>참고 자료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813816"/>
            <a:ext cx="10607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</a:rPr>
              <a:t>장표 내용은 Python 공식 문서와 CPython 개발 문서를 바탕으로 정리했습니다.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0352" y="73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58D0"/>
                </a:solidFill>
              </a:rPr>
              <a:t>임베디드 · IoT 개발자 과정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0352" y="237744"/>
            <a:ext cx="4023360" cy="0"/>
          </a:xfrm>
          <a:prstGeom prst="line">
            <a:avLst/>
          </a:prstGeom>
          <a:noFill/>
          <a:ln w="1524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0" y="6272784"/>
            <a:ext cx="12191695" cy="585216"/>
          </a:xfrm>
          <a:prstGeom prst="rect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93776" y="6437376"/>
            <a:ext cx="7315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1. CPython 인터프리터 · 객체 모델 · 동적 타이핑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292840" y="637336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</a:rPr>
              <a:t>16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" y="637336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77824" y="1508760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1453896"/>
            <a:ext cx="29260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Python Data Model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49240" y="1472184"/>
            <a:ext cx="5394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모든 데이터가 객체 또는 객체 간 관계로 표현된다는 Python 언어 모델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2130552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77824" y="2221992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2167128"/>
            <a:ext cx="29260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Python/C API: Common Object Structures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2185416"/>
            <a:ext cx="5394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PyObject, PyVarObject 등 CPython 객체 구조 설명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2843784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77824" y="2935224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63040" y="2880360"/>
            <a:ext cx="29260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Python/C API: Reference Counting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49240" y="2898648"/>
            <a:ext cx="5394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CPython 객체 참조 수 관리 개념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3557016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77824" y="3648456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3593592"/>
            <a:ext cx="29260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CPython InternalDocs: Bytecode Interpreter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349240" y="3611880"/>
            <a:ext cx="5394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CPython bytecode interpreter 작동 개요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68680" y="4270248"/>
            <a:ext cx="438912" cy="438912"/>
          </a:xfrm>
          <a:prstGeom prst="ellipse">
            <a:avLst/>
          </a:prstGeom>
          <a:solidFill>
            <a:srgbClr val="0B58D0"/>
          </a:solidFill>
          <a:ln w="12700">
            <a:solidFill>
              <a:srgbClr val="0B58D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77824" y="4361688"/>
            <a:ext cx="420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40" y="4306824"/>
            <a:ext cx="29260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1B4D"/>
                </a:solidFill>
              </a:rPr>
              <a:t>Python typing module docs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49240" y="4325112"/>
            <a:ext cx="53949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7085"/>
                </a:solidFill>
              </a:rPr>
              <a:t>type hint의 목적과 typing 지원 설명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68680" y="5285232"/>
            <a:ext cx="10607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</a:rPr>
              <a:t>참고: “Python이 C로 컴파일된다”는 표현은 수업에서는 설명 편의상 사용할 수 있지만, 정확한 표현은 “CPython 런타임이 C로 구현되어 있고 Python 소스는 bytecode로 컴파일되어 실행된다”입니다.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2011</Words>
  <Application>Microsoft Office PowerPoint</Application>
  <PresentationFormat>와이드스크린</PresentationFormat>
  <Paragraphs>368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Bindsoft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Day1 CPython 인터프리터와 Python 객체 모델</dc:title>
  <dc:subject>Day1 CPython interpreter and Python object model</dc:subject>
  <dc:creator>OpenAI</dc:creator>
  <cp:lastModifiedBy>Sugil Choi</cp:lastModifiedBy>
  <cp:revision>2</cp:revision>
  <dcterms:created xsi:type="dcterms:W3CDTF">2026-05-23T15:40:36Z</dcterms:created>
  <dcterms:modified xsi:type="dcterms:W3CDTF">2026-05-23T15:59:07Z</dcterms:modified>
</cp:coreProperties>
</file>