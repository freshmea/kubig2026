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55CC"/>
                </a:solidFill>
              </a:rPr>
              <a:t>Day 2 추가 자료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640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71D49"/>
                </a:solidFill>
              </a:rPr>
              <a:t>uv 기반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071D49"/>
                </a:solidFill>
              </a:rPr>
              <a:t>Python 패키지 작성 · 배포 · CI/CD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7889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55CC"/>
                </a:solidFill>
              </a:rPr>
              <a:t>오래된 venv/pip/twine 중심 흐름을 최신 uv 중심 워크플로우로 정리합니다.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46520" y="1280160"/>
            <a:ext cx="841248" cy="1097280"/>
          </a:xfrm>
          <a:prstGeom prst="roundRect">
            <a:avLst>
              <a:gd name="adj" fmla="val 8696"/>
            </a:avLst>
          </a:prstGeom>
          <a:solidFill>
            <a:srgbClr val="EAF3FF"/>
          </a:solidFill>
          <a:ln w="12700">
            <a:solidFill>
              <a:srgbClr val="B8CA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47688" y="1463040"/>
            <a:ext cx="438912" cy="438912"/>
          </a:xfrm>
          <a:prstGeom prst="ellipse">
            <a:avLst/>
          </a:prstGeom>
          <a:solidFill>
            <a:srgbClr val="1155CC"/>
          </a:solidFill>
          <a:ln w="12700">
            <a:solidFill>
              <a:srgbClr val="1155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47688" y="157276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19672" y="205740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D49"/>
                </a:solidFill>
              </a:rPr>
              <a:t>패키지 구조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269480" y="1828800"/>
            <a:ext cx="201168" cy="0"/>
          </a:xfrm>
          <a:prstGeom prst="line">
            <a:avLst/>
          </a:prstGeom>
          <a:noFill/>
          <a:ln w="27940">
            <a:solidFill>
              <a:srgbClr val="1155CC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470648" y="1280160"/>
            <a:ext cx="841248" cy="1097280"/>
          </a:xfrm>
          <a:prstGeom prst="roundRect">
            <a:avLst>
              <a:gd name="adj" fmla="val 8696"/>
            </a:avLst>
          </a:prstGeom>
          <a:solidFill>
            <a:srgbClr val="F7FAFF"/>
          </a:solidFill>
          <a:ln w="12700">
            <a:solidFill>
              <a:srgbClr val="B8CA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71816" y="1463040"/>
            <a:ext cx="438912" cy="438912"/>
          </a:xfrm>
          <a:prstGeom prst="ellipse">
            <a:avLst/>
          </a:prstGeom>
          <a:solidFill>
            <a:srgbClr val="1155CC"/>
          </a:solidFill>
          <a:ln w="12700">
            <a:solidFill>
              <a:srgbClr val="1155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71816" y="157276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543800" y="205740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D49"/>
                </a:solidFill>
              </a:rPr>
              <a:t>의존성 잠금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93608" y="1828800"/>
            <a:ext cx="201168" cy="0"/>
          </a:xfrm>
          <a:prstGeom prst="line">
            <a:avLst/>
          </a:prstGeom>
          <a:noFill/>
          <a:ln w="27940">
            <a:solidFill>
              <a:srgbClr val="1155CC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494776" y="1280160"/>
            <a:ext cx="841248" cy="1097280"/>
          </a:xfrm>
          <a:prstGeom prst="roundRect">
            <a:avLst>
              <a:gd name="adj" fmla="val 8696"/>
            </a:avLst>
          </a:prstGeom>
          <a:solidFill>
            <a:srgbClr val="EAF3FF"/>
          </a:solidFill>
          <a:ln w="12700">
            <a:solidFill>
              <a:srgbClr val="B8CA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95944" y="1463040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95944" y="157276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67928" y="205740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D49"/>
                </a:solidFill>
              </a:rPr>
              <a:t>Wheel 빌드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317736" y="1828800"/>
            <a:ext cx="201168" cy="0"/>
          </a:xfrm>
          <a:prstGeom prst="line">
            <a:avLst/>
          </a:prstGeom>
          <a:noFill/>
          <a:ln w="27940">
            <a:solidFill>
              <a:srgbClr val="1155CC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518904" y="1280160"/>
            <a:ext cx="841248" cy="1097280"/>
          </a:xfrm>
          <a:prstGeom prst="roundRect">
            <a:avLst>
              <a:gd name="adj" fmla="val 8696"/>
            </a:avLst>
          </a:prstGeom>
          <a:solidFill>
            <a:srgbClr val="F7FAFF"/>
          </a:solidFill>
          <a:ln w="12700">
            <a:solidFill>
              <a:srgbClr val="B8CA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20072" y="1463040"/>
            <a:ext cx="438912" cy="438912"/>
          </a:xfrm>
          <a:prstGeom prst="ellipse">
            <a:avLst/>
          </a:prstGeom>
          <a:solidFill>
            <a:srgbClr val="1155CC"/>
          </a:solidFill>
          <a:ln w="12700">
            <a:solidFill>
              <a:srgbClr val="1155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20072" y="157276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592056" y="205740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D49"/>
                </a:solidFill>
              </a:rPr>
              <a:t>TestPyPI/PyPI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341864" y="1828800"/>
            <a:ext cx="201168" cy="0"/>
          </a:xfrm>
          <a:prstGeom prst="line">
            <a:avLst/>
          </a:prstGeom>
          <a:noFill/>
          <a:ln w="27940">
            <a:solidFill>
              <a:srgbClr val="1155CC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543032" y="1280160"/>
            <a:ext cx="841248" cy="1097280"/>
          </a:xfrm>
          <a:prstGeom prst="roundRect">
            <a:avLst>
              <a:gd name="adj" fmla="val 8696"/>
            </a:avLst>
          </a:prstGeom>
          <a:solidFill>
            <a:srgbClr val="EAF3FF"/>
          </a:solidFill>
          <a:ln w="12700">
            <a:solidFill>
              <a:srgbClr val="B8CA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744200" y="1463040"/>
            <a:ext cx="438912" cy="438912"/>
          </a:xfrm>
          <a:prstGeom prst="ellipse">
            <a:avLst/>
          </a:prstGeom>
          <a:solidFill>
            <a:srgbClr val="1155CC"/>
          </a:solidFill>
          <a:ln w="12700">
            <a:solidFill>
              <a:srgbClr val="1155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744200" y="157276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616184" y="205740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D49"/>
                </a:solidFill>
              </a:rPr>
              <a:t>CI/CD 자동화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92240" y="3154680"/>
            <a:ext cx="4892040" cy="1691640"/>
          </a:xfrm>
          <a:prstGeom prst="roundRect">
            <a:avLst>
              <a:gd name="adj" fmla="val 4324"/>
            </a:avLst>
          </a:prstGeom>
          <a:solidFill>
            <a:srgbClr val="F7FAFF"/>
          </a:solidFill>
          <a:ln w="12700">
            <a:solidFill>
              <a:srgbClr val="B8CA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0840" y="3364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71D49"/>
                </a:solidFill>
              </a:rPr>
              <a:t>최신 권장 흐름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6720840" y="3749040"/>
            <a:ext cx="42976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21826"/>
                </a:solidFill>
              </a:rPr>
              <a:t>pyproject.toml + uv.lock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1826"/>
                </a:solidFill>
              </a:rPr>
              <a:t>→ uv build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1826"/>
                </a:solidFill>
              </a:rPr>
              <a:t>→ GitHub Actions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1826"/>
                </a:solidFill>
              </a:rPr>
              <a:t>→ Trusted Publishing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1155CC"/>
          </a:solidFill>
          <a:ln w="12700">
            <a:solidFill>
              <a:srgbClr val="1155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" y="643737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추가. uv · Packaging · Wheel · CI/CD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375136" y="638251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28600"/>
            <a:ext cx="384048" cy="384048"/>
          </a:xfrm>
          <a:prstGeom prst="rect">
            <a:avLst/>
          </a:prstGeom>
          <a:solidFill>
            <a:srgbClr val="1155CC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86384" y="201168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71D49"/>
                </a:solidFill>
              </a:rPr>
              <a:t>왜 uv 중심으로 바꾸는가?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86384" y="694944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06A78"/>
                </a:solidFill>
              </a:rPr>
              <a:t>환경 생성, 의존성 고정, 실행, 빌드, 배포를 하나의 도구 흐름으로 통합합니다.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86384" y="1024128"/>
            <a:ext cx="10789920" cy="0"/>
          </a:xfrm>
          <a:prstGeom prst="line">
            <a:avLst/>
          </a:prstGeom>
          <a:noFill/>
          <a:ln w="15240">
            <a:solidFill>
              <a:srgbClr val="1155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417320"/>
            <a:ext cx="5212080" cy="3566160"/>
          </a:xfrm>
          <a:prstGeom prst="roundRect">
            <a:avLst>
              <a:gd name="adj" fmla="val 2051"/>
            </a:avLst>
          </a:prstGeom>
          <a:solidFill>
            <a:srgbClr val="FFF7F7"/>
          </a:solidFill>
          <a:ln w="12700">
            <a:solidFill>
              <a:srgbClr val="F6B7B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664208"/>
            <a:ext cx="2148840" cy="310896"/>
          </a:xfrm>
          <a:prstGeom prst="roundRect">
            <a:avLst>
              <a:gd name="adj" fmla="val 17647"/>
            </a:avLst>
          </a:prstGeom>
          <a:solidFill>
            <a:srgbClr val="D93025"/>
          </a:solidFill>
          <a:ln w="12700">
            <a:solidFill>
              <a:srgbClr val="D930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737360"/>
            <a:ext cx="2057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</a:rPr>
              <a:t>기존 방식: 도구가 흩어짐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914400" y="2240280"/>
            <a:ext cx="429768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venv .venv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build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twine upload dist/*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611880"/>
            <a:ext cx="443484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21826"/>
                </a:solidFill>
              </a:rPr>
              <a:t>✓  가상환경/설치/빌드/업로드 도구가 분리됨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21826"/>
                </a:solidFill>
              </a:rPr>
              <a:t>✓  lock 파일 부재 시 재현성이 약함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21826"/>
                </a:solidFill>
              </a:rPr>
              <a:t>✓  CI 설정이 길어지고 실수 포인트 증가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0" y="1417320"/>
            <a:ext cx="5212080" cy="3566160"/>
          </a:xfrm>
          <a:prstGeom prst="roundRect">
            <a:avLst>
              <a:gd name="adj" fmla="val 2051"/>
            </a:avLst>
          </a:prstGeom>
          <a:solidFill>
            <a:srgbClr val="EAF3FF"/>
          </a:solidFill>
          <a:ln w="12700">
            <a:solidFill>
              <a:srgbClr val="B8CA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20840" y="1664208"/>
            <a:ext cx="2926080" cy="310896"/>
          </a:xfrm>
          <a:prstGeom prst="roundRect">
            <a:avLst>
              <a:gd name="adj" fmla="val 17647"/>
            </a:avLst>
          </a:prstGeom>
          <a:solidFill>
            <a:srgbClr val="1155CC"/>
          </a:solidFill>
          <a:ln w="12700">
            <a:solidFill>
              <a:srgbClr val="1155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1737360"/>
            <a:ext cx="2834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</a:rPr>
              <a:t>uv 방식: 프로젝트 관리 흐름 통합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6720840" y="2240280"/>
            <a:ext cx="429768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init --package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add pyserial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sync --locked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build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publish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20840" y="3611880"/>
            <a:ext cx="443484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21826"/>
                </a:solidFill>
              </a:rPr>
              <a:t>✓  pyproject.toml + uv.lock 중심 관리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21826"/>
                </a:solidFill>
              </a:rPr>
              <a:t>✓  uv run으로 항상 같은 환경에서 실행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21826"/>
                </a:solidFill>
              </a:rPr>
              <a:t>✓  CI에서 빠르게 동기화하고 검증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97280" y="5349240"/>
            <a:ext cx="9966960" cy="502920"/>
          </a:xfrm>
          <a:prstGeom prst="roundRect">
            <a:avLst>
              <a:gd name="adj" fmla="val 14545"/>
            </a:avLst>
          </a:prstGeom>
          <a:solidFill>
            <a:srgbClr val="FFF9E8"/>
          </a:solidFill>
          <a:ln w="12700">
            <a:solidFill>
              <a:srgbClr val="F5C4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550468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71D49"/>
                </a:solidFill>
              </a:rPr>
              <a:t>핵심: 학생 프로젝트는 “실행되는 코드”에서 끝나지 않고, “재현 · 빌드 · 배포 가능한 패키지”로 관리되어야 합니다.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1155CC"/>
          </a:solidFill>
          <a:ln w="12700">
            <a:solidFill>
              <a:srgbClr val="1155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643737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추가. uv · Packaging · Wheel · CI/CD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375136" y="638251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28600"/>
            <a:ext cx="384048" cy="384048"/>
          </a:xfrm>
          <a:prstGeom prst="rect">
            <a:avLst/>
          </a:prstGeom>
          <a:solidFill>
            <a:srgbClr val="1155CC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86384" y="201168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71D49"/>
                </a:solidFill>
              </a:rPr>
              <a:t>uv 프로젝트 관리 전체 그림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86384" y="694944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06A78"/>
                </a:solidFill>
              </a:rPr>
              <a:t>코드, 메타데이터, 의존성 잠금, 빌드 산출물을 명확히 분리합니다.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86384" y="1024128"/>
            <a:ext cx="10789920" cy="0"/>
          </a:xfrm>
          <a:prstGeom prst="line">
            <a:avLst/>
          </a:prstGeom>
          <a:noFill/>
          <a:ln w="15240">
            <a:solidFill>
              <a:srgbClr val="1155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60020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B8CA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78308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5CC"/>
                </a:solidFill>
              </a:rPr>
              <a:t>pyproject.toml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2176272"/>
            <a:ext cx="164592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21826"/>
                </a:solidFill>
              </a:rPr>
              <a:t>프로젝트 이름, 버전, 의존성, 빌드 백엔드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697480" y="2212848"/>
            <a:ext cx="365760" cy="0"/>
          </a:xfrm>
          <a:prstGeom prst="line">
            <a:avLst/>
          </a:prstGeom>
          <a:noFill/>
          <a:ln w="27940">
            <a:solidFill>
              <a:srgbClr val="1155CC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063240" y="160020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B8CA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72968" y="178308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5CC"/>
                </a:solidFill>
              </a:rPr>
              <a:t>uv.lock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172968" y="2176272"/>
            <a:ext cx="164592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21826"/>
                </a:solidFill>
              </a:rPr>
              <a:t>해결된 정확한 의존성 버전 잠금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937760" y="2212848"/>
            <a:ext cx="365760" cy="0"/>
          </a:xfrm>
          <a:prstGeom prst="line">
            <a:avLst/>
          </a:prstGeom>
          <a:noFill/>
          <a:ln w="27940">
            <a:solidFill>
              <a:srgbClr val="1155CC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303520" y="160020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B8CA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13248" y="178308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5CC"/>
                </a:solidFill>
              </a:rPr>
              <a:t>src/ 패키지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13248" y="2176272"/>
            <a:ext cx="164592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21826"/>
                </a:solidFill>
              </a:rPr>
              <a:t>배포할 실제 Python 코드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178040" y="2212848"/>
            <a:ext cx="365760" cy="0"/>
          </a:xfrm>
          <a:prstGeom prst="line">
            <a:avLst/>
          </a:prstGeom>
          <a:noFill/>
          <a:ln w="27940">
            <a:solidFill>
              <a:srgbClr val="1155CC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543800" y="160020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B8CA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53528" y="178308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5CC"/>
                </a:solidFill>
              </a:rPr>
              <a:t>tests/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53528" y="2176272"/>
            <a:ext cx="164592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21826"/>
                </a:solidFill>
              </a:rPr>
              <a:t>동작 검증 코드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418320" y="2212848"/>
            <a:ext cx="365760" cy="0"/>
          </a:xfrm>
          <a:prstGeom prst="line">
            <a:avLst/>
          </a:prstGeom>
          <a:noFill/>
          <a:ln w="27940">
            <a:solidFill>
              <a:srgbClr val="1155CC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784080" y="160020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FF9E8"/>
          </a:solidFill>
          <a:ln w="12700">
            <a:solidFill>
              <a:srgbClr val="B8CA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93808" y="178308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dist/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893808" y="2176272"/>
            <a:ext cx="164592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21826"/>
                </a:solidFill>
              </a:rPr>
              <a:t>wheel / sdist 산출물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22960" y="370332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EAF3FF"/>
          </a:solidFill>
          <a:ln w="12700">
            <a:solidFill>
              <a:srgbClr val="B8CA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1560" y="39319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1D49"/>
                </a:solidFill>
              </a:rPr>
              <a:t>개발자 로컬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51560" y="4315968"/>
            <a:ext cx="43891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21826"/>
                </a:solidFill>
              </a:rPr>
              <a:t>✓  uv sync로 환경 재현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21826"/>
                </a:solidFill>
              </a:rPr>
              <a:t>✓  uv run으로 테스트/실행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21826"/>
                </a:solidFill>
              </a:rPr>
              <a:t>✓  uv build로 배포 파일 생성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263640" y="370332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F7FAFF"/>
          </a:solidFill>
          <a:ln w="12700">
            <a:solidFill>
              <a:srgbClr val="B8CA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39319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1D49"/>
                </a:solidFill>
              </a:rPr>
              <a:t>GitHub Actions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92240" y="4315968"/>
            <a:ext cx="43891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21826"/>
                </a:solidFill>
              </a:rPr>
              <a:t>✓  push / PR에서 테스트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21826"/>
                </a:solidFill>
              </a:rPr>
              <a:t>✓  tag에서 wheel 빌드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21826"/>
                </a:solidFill>
              </a:rPr>
              <a:t>✓  Trusted Publishing으로 배포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1155CC"/>
          </a:solidFill>
          <a:ln w="12700">
            <a:solidFill>
              <a:srgbClr val="1155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643737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추가. uv · Packaging · Wheel · CI/CD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375136" y="638251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28600"/>
            <a:ext cx="384048" cy="384048"/>
          </a:xfrm>
          <a:prstGeom prst="rect">
            <a:avLst/>
          </a:prstGeom>
          <a:solidFill>
            <a:srgbClr val="1155CC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86384" y="201168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71D49"/>
                </a:solidFill>
              </a:rPr>
              <a:t>패키지 프로젝트 만들기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86384" y="694944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06A78"/>
                </a:solidFill>
              </a:rPr>
              <a:t>uv init --package로 pyproject.toml과 src 기반 패키지 구조를 시작합니다.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86384" y="1024128"/>
            <a:ext cx="10789920" cy="0"/>
          </a:xfrm>
          <a:prstGeom prst="line">
            <a:avLst/>
          </a:prstGeom>
          <a:noFill/>
          <a:ln w="15240">
            <a:solidFill>
              <a:srgbClr val="1155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417320"/>
            <a:ext cx="4754880" cy="1554480"/>
          </a:xfrm>
          <a:prstGeom prst="roundRect">
            <a:avLst>
              <a:gd name="adj" fmla="val 2941"/>
            </a:avLst>
          </a:prstGeom>
          <a:solidFill>
            <a:srgbClr val="F8FAFC"/>
          </a:solidFill>
          <a:ln w="12700">
            <a:solidFill>
              <a:srgbClr val="B8CA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27048"/>
            <a:ext cx="453542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uv init --package iot-sensor-kit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iot-sensor-kit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uv add pyserial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uv add --dev pytest ruff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26480" y="1417320"/>
            <a:ext cx="5120640" cy="2880360"/>
          </a:xfrm>
          <a:prstGeom prst="roundRect">
            <a:avLst>
              <a:gd name="adj" fmla="val 2540"/>
            </a:avLst>
          </a:prstGeom>
          <a:solidFill>
            <a:srgbClr val="F7FAFF"/>
          </a:solidFill>
          <a:ln w="12700">
            <a:solidFill>
              <a:srgbClr val="B8CA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645920"/>
            <a:ext cx="1737360" cy="310896"/>
          </a:xfrm>
          <a:prstGeom prst="roundRect">
            <a:avLst>
              <a:gd name="adj" fmla="val 17647"/>
            </a:avLst>
          </a:prstGeom>
          <a:solidFill>
            <a:srgbClr val="1155CC"/>
          </a:solidFill>
          <a:ln w="12700">
            <a:solidFill>
              <a:srgbClr val="1155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719072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</a:rPr>
              <a:t>권장 폴더 구조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6446520" y="2148840"/>
            <a:ext cx="438912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iot-sensor-kit/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pyproject.toml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uv.lock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src/iot_sensor_kit/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__init__.py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 parser.py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tests/test_parser.py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77240" y="3886200"/>
            <a:ext cx="4754880" cy="1325880"/>
          </a:xfrm>
          <a:prstGeom prst="roundRect">
            <a:avLst>
              <a:gd name="adj" fmla="val 5517"/>
            </a:avLst>
          </a:prstGeom>
          <a:solidFill>
            <a:srgbClr val="FFF9E8"/>
          </a:solidFill>
          <a:ln w="12700">
            <a:solidFill>
              <a:srgbClr val="F5C4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41330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src layout를 쓰는 이유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4480560"/>
            <a:ext cx="42062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21826"/>
                </a:solidFill>
              </a:rPr>
              <a:t>✓  패키지로 설치했을 때 동작을 더 정확히 검증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21826"/>
                </a:solidFill>
              </a:rPr>
              <a:t>✓  로컬 폴더 import 착시를 줄임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126480" y="4617720"/>
            <a:ext cx="5120640" cy="594360"/>
          </a:xfrm>
          <a:prstGeom prst="roundRect">
            <a:avLst>
              <a:gd name="adj" fmla="val 12308"/>
            </a:avLst>
          </a:prstGeom>
          <a:solidFill>
            <a:srgbClr val="EAF3FF"/>
          </a:solidFill>
          <a:ln w="12700">
            <a:solidFill>
              <a:srgbClr val="B8CA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4791456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1D49"/>
                </a:solidFill>
              </a:rPr>
              <a:t>실습 목표: 센서 문자열 파서 모듈을 패키지로 만들고 다른 프로젝트에서 설치해 사용합니다.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1155CC"/>
          </a:solidFill>
          <a:ln w="12700">
            <a:solidFill>
              <a:srgbClr val="1155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643737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추가. uv · Packaging · Wheel · CI/CD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375136" y="638251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28600"/>
            <a:ext cx="384048" cy="384048"/>
          </a:xfrm>
          <a:prstGeom prst="rect">
            <a:avLst/>
          </a:prstGeom>
          <a:solidFill>
            <a:srgbClr val="1155CC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86384" y="201168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71D49"/>
                </a:solidFill>
              </a:rPr>
              <a:t>pyproject.toml 핵심 항목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86384" y="694944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06A78"/>
                </a:solidFill>
              </a:rPr>
              <a:t>패키지 이름, 버전, Python 범위, 의존성, 빌드 시스템을 한 파일에 기록합니다.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86384" y="1024128"/>
            <a:ext cx="10789920" cy="0"/>
          </a:xfrm>
          <a:prstGeom prst="line">
            <a:avLst/>
          </a:prstGeom>
          <a:noFill/>
          <a:ln w="15240">
            <a:solidFill>
              <a:srgbClr val="1155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25880"/>
            <a:ext cx="5394960" cy="3886200"/>
          </a:xfrm>
          <a:prstGeom prst="roundRect">
            <a:avLst>
              <a:gd name="adj" fmla="val 1176"/>
            </a:avLst>
          </a:prstGeom>
          <a:solidFill>
            <a:srgbClr val="F8FAFC"/>
          </a:solidFill>
          <a:ln w="12700">
            <a:solidFill>
              <a:srgbClr val="B8CA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435608"/>
            <a:ext cx="5175504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[project]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"iot-sensor-kit"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 = "0.1.0"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requires-python = "&gt;=3.11"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dependencies = ["pyserial&gt;=3.5"]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[dependency-groups]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 = ["pytest&gt;=8", "ruff&gt;=0.8"]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[build-system]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requires = ["hatchling"]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build-backend = "hatchling.build"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0" y="1417320"/>
            <a:ext cx="4526280" cy="621792"/>
          </a:xfrm>
          <a:prstGeom prst="roundRect">
            <a:avLst>
              <a:gd name="adj" fmla="val 11765"/>
            </a:avLst>
          </a:prstGeom>
          <a:solidFill>
            <a:srgbClr val="EAF3FF"/>
          </a:solidFill>
          <a:ln w="12700">
            <a:solidFill>
              <a:srgbClr val="B8CA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01968" y="160020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55CC"/>
                </a:solidFill>
              </a:rPr>
              <a:t>project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366760" y="160020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1826"/>
                </a:solidFill>
              </a:rPr>
              <a:t>배포 메타데이터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0" y="2286000"/>
            <a:ext cx="4526280" cy="621792"/>
          </a:xfrm>
          <a:prstGeom prst="roundRect">
            <a:avLst>
              <a:gd name="adj" fmla="val 11765"/>
            </a:avLst>
          </a:prstGeom>
          <a:solidFill>
            <a:srgbClr val="F7FAFF"/>
          </a:solidFill>
          <a:ln w="12700">
            <a:solidFill>
              <a:srgbClr val="B8CA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01968" y="246888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55CC"/>
                </a:solidFill>
              </a:rPr>
              <a:t>dependencies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66760" y="246888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1826"/>
                </a:solidFill>
              </a:rPr>
              <a:t>런타임 의존성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0" y="3154680"/>
            <a:ext cx="4526280" cy="621792"/>
          </a:xfrm>
          <a:prstGeom prst="roundRect">
            <a:avLst>
              <a:gd name="adj" fmla="val 11765"/>
            </a:avLst>
          </a:prstGeom>
          <a:solidFill>
            <a:srgbClr val="EAF3FF"/>
          </a:solidFill>
          <a:ln w="12700">
            <a:solidFill>
              <a:srgbClr val="B8CA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01968" y="33375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55CC"/>
                </a:solidFill>
              </a:rPr>
              <a:t>dependency-groups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66760" y="333756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1826"/>
                </a:solidFill>
              </a:rPr>
              <a:t>테스트/개발 도구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0" y="4023360"/>
            <a:ext cx="4526280" cy="621792"/>
          </a:xfrm>
          <a:prstGeom prst="roundRect">
            <a:avLst>
              <a:gd name="adj" fmla="val 11765"/>
            </a:avLst>
          </a:prstGeom>
          <a:solidFill>
            <a:srgbClr val="F7FAFF"/>
          </a:solidFill>
          <a:ln w="12700">
            <a:solidFill>
              <a:srgbClr val="B8CA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01968" y="420624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55CC"/>
                </a:solidFill>
              </a:rPr>
              <a:t>build-system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66760" y="420624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1826"/>
                </a:solidFill>
              </a:rPr>
              <a:t>wheel 생성 방법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0" y="5166360"/>
            <a:ext cx="4526280" cy="502920"/>
          </a:xfrm>
          <a:prstGeom prst="roundRect">
            <a:avLst>
              <a:gd name="adj" fmla="val 14545"/>
            </a:avLst>
          </a:prstGeom>
          <a:solidFill>
            <a:srgbClr val="FFF9E8"/>
          </a:solidFill>
          <a:ln w="12700">
            <a:solidFill>
              <a:srgbClr val="F5C4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0" y="532180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071D49"/>
                </a:solidFill>
              </a:rPr>
              <a:t>핵심: requirements.txt가 아니라 pyproject.toml을 프로젝트의 기준 문서로 사용합니다.</a:t>
            </a:r>
            <a:endParaRPr lang="en-US" sz="1280" dirty="0"/>
          </a:p>
        </p:txBody>
      </p:sp>
      <p:sp>
        <p:nvSpPr>
          <p:cNvPr id="22" name="Shape 20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1155CC"/>
          </a:solidFill>
          <a:ln w="12700">
            <a:solidFill>
              <a:srgbClr val="1155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643737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추가. uv · Packaging · Wheel · CI/CD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375136" y="638251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28600"/>
            <a:ext cx="384048" cy="384048"/>
          </a:xfrm>
          <a:prstGeom prst="rect">
            <a:avLst/>
          </a:prstGeom>
          <a:solidFill>
            <a:srgbClr val="1155CC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86384" y="201168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71D49"/>
                </a:solidFill>
              </a:rPr>
              <a:t>의존성 잠금과 실행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86384" y="694944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06A78"/>
                </a:solidFill>
              </a:rPr>
              <a:t>uv.lock은 “오늘 설치한 환경”을 팀과 CI가 그대로 재현하게 해줍니다.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86384" y="1024128"/>
            <a:ext cx="10789920" cy="0"/>
          </a:xfrm>
          <a:prstGeom prst="line">
            <a:avLst/>
          </a:prstGeom>
          <a:noFill/>
          <a:ln w="15240">
            <a:solidFill>
              <a:srgbClr val="1155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1732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EAF3FF"/>
          </a:solidFill>
          <a:ln w="12700">
            <a:solidFill>
              <a:srgbClr val="B8CA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1691640"/>
            <a:ext cx="438912" cy="438912"/>
          </a:xfrm>
          <a:prstGeom prst="ellipse">
            <a:avLst/>
          </a:prstGeom>
          <a:solidFill>
            <a:srgbClr val="1155CC"/>
          </a:solidFill>
          <a:ln w="12700">
            <a:solidFill>
              <a:srgbClr val="1155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80136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160020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1D49"/>
                </a:solidFill>
              </a:rPr>
              <a:t>uv add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194767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06A78"/>
                </a:solidFill>
              </a:rPr>
              <a:t>의존성 추가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880360" y="1938528"/>
            <a:ext cx="594360" cy="0"/>
          </a:xfrm>
          <a:prstGeom prst="line">
            <a:avLst/>
          </a:prstGeom>
          <a:noFill/>
          <a:ln w="27940">
            <a:solidFill>
              <a:srgbClr val="1155CC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474720" y="141732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F7FAFF"/>
          </a:solidFill>
          <a:ln w="12700">
            <a:solidFill>
              <a:srgbClr val="B8CA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39312" y="1691640"/>
            <a:ext cx="438912" cy="438912"/>
          </a:xfrm>
          <a:prstGeom prst="ellipse">
            <a:avLst/>
          </a:prstGeom>
          <a:solidFill>
            <a:srgbClr val="16A05D"/>
          </a:solidFill>
          <a:ln w="12700">
            <a:solidFill>
              <a:srgbClr val="16A0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39312" y="180136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60520" y="160020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1D49"/>
                </a:solidFill>
              </a:rPr>
              <a:t>uv lock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160520" y="194767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06A78"/>
                </a:solidFill>
              </a:rPr>
              <a:t>버전 해결/잠금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23560" y="1938528"/>
            <a:ext cx="594360" cy="0"/>
          </a:xfrm>
          <a:prstGeom prst="line">
            <a:avLst/>
          </a:prstGeom>
          <a:noFill/>
          <a:ln w="27940">
            <a:solidFill>
              <a:srgbClr val="1155CC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217920" y="141732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EAF3FF"/>
          </a:solidFill>
          <a:ln w="12700">
            <a:solidFill>
              <a:srgbClr val="B8CA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82512" y="1691640"/>
            <a:ext cx="438912" cy="438912"/>
          </a:xfrm>
          <a:prstGeom prst="ellipse">
            <a:avLst/>
          </a:prstGeom>
          <a:solidFill>
            <a:srgbClr val="1155CC"/>
          </a:solidFill>
          <a:ln w="12700">
            <a:solidFill>
              <a:srgbClr val="1155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82512" y="180136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03720" y="160020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1D49"/>
                </a:solidFill>
              </a:rPr>
              <a:t>uv sync --locked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03720" y="194767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06A78"/>
                </a:solidFill>
              </a:rPr>
              <a:t>동일 환경 재현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366760" y="1938528"/>
            <a:ext cx="594360" cy="0"/>
          </a:xfrm>
          <a:prstGeom prst="line">
            <a:avLst/>
          </a:prstGeom>
          <a:noFill/>
          <a:ln w="27940">
            <a:solidFill>
              <a:srgbClr val="1155CC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961120" y="141732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F7FAFF"/>
          </a:solidFill>
          <a:ln w="12700">
            <a:solidFill>
              <a:srgbClr val="B8CA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25712" y="1691640"/>
            <a:ext cx="438912" cy="438912"/>
          </a:xfrm>
          <a:prstGeom prst="ellipse">
            <a:avLst/>
          </a:prstGeom>
          <a:solidFill>
            <a:srgbClr val="1155CC"/>
          </a:solidFill>
          <a:ln w="12700">
            <a:solidFill>
              <a:srgbClr val="1155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80136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46920" y="160020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1D49"/>
                </a:solidFill>
              </a:rPr>
              <a:t>uv run pytest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646920" y="194767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06A78"/>
                </a:solidFill>
              </a:rPr>
              <a:t>잠긴 환경에서 실행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68680" y="3337560"/>
            <a:ext cx="5166360" cy="1691640"/>
          </a:xfrm>
          <a:prstGeom prst="roundRect">
            <a:avLst>
              <a:gd name="adj" fmla="val 2703"/>
            </a:avLst>
          </a:prstGeom>
          <a:solidFill>
            <a:srgbClr val="F8FAFC"/>
          </a:solidFill>
          <a:ln w="12700">
            <a:solidFill>
              <a:srgbClr val="B8CA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8408" y="3447288"/>
            <a:ext cx="4946904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uv add requests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uv add --dev pytest ruff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uv sync --locked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uv run pytest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uv run python -m iot_sensor_kit.demo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537960" y="3337560"/>
            <a:ext cx="4526280" cy="1691640"/>
          </a:xfrm>
          <a:prstGeom prst="roundRect">
            <a:avLst>
              <a:gd name="adj" fmla="val 4324"/>
            </a:avLst>
          </a:prstGeom>
          <a:solidFill>
            <a:srgbClr val="F7FAFF"/>
          </a:solidFill>
          <a:ln w="12700">
            <a:solidFill>
              <a:srgbClr val="B8CA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12280" y="36118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1D49"/>
                </a:solidFill>
              </a:rPr>
              <a:t>팀 프로젝트 규칙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12280" y="3977640"/>
            <a:ext cx="37490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21826"/>
                </a:solidFill>
              </a:rPr>
              <a:t>✓  pyproject.toml과 uv.lock은 Git에 커밋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21826"/>
                </a:solidFill>
              </a:rPr>
              <a:t>✓  개발자는 uv sync로 시작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21826"/>
                </a:solidFill>
              </a:rPr>
              <a:t>✓  CI는 uv sync --locked로 검증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1155CC"/>
          </a:solidFill>
          <a:ln w="12700">
            <a:solidFill>
              <a:srgbClr val="1155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643737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추가. uv · Packaging · Wheel · CI/CD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1375136" y="638251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06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28600"/>
            <a:ext cx="384048" cy="384048"/>
          </a:xfrm>
          <a:prstGeom prst="rect">
            <a:avLst/>
          </a:prstGeom>
          <a:solidFill>
            <a:srgbClr val="1155CC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07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86384" y="201168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71D49"/>
                </a:solidFill>
              </a:rPr>
              <a:t>wheel 파일 만들기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86384" y="694944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06A78"/>
                </a:solidFill>
              </a:rPr>
              <a:t>wheel은 Python 패키지를 빠르게 설치하기 위한 배포 파일입니다.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86384" y="1024128"/>
            <a:ext cx="10789920" cy="0"/>
          </a:xfrm>
          <a:prstGeom prst="line">
            <a:avLst/>
          </a:prstGeom>
          <a:noFill/>
          <a:ln w="15240">
            <a:solidFill>
              <a:srgbClr val="1155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41732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EAF3FF"/>
          </a:solidFill>
          <a:ln w="12700">
            <a:solidFill>
              <a:srgbClr val="B8CA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70078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D49"/>
                </a:solidFill>
              </a:rPr>
              <a:t>소스 코드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520440" y="1965960"/>
            <a:ext cx="731520" cy="0"/>
          </a:xfrm>
          <a:prstGeom prst="line">
            <a:avLst/>
          </a:prstGeom>
          <a:noFill/>
          <a:ln w="27940">
            <a:solidFill>
              <a:srgbClr val="1155CC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251960" y="141732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7FAFF"/>
          </a:solidFill>
          <a:ln w="12700">
            <a:solidFill>
              <a:srgbClr val="B8CA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70078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55CC"/>
                </a:solidFill>
              </a:rPr>
              <a:t>uv build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995160" y="1965960"/>
            <a:ext cx="731520" cy="0"/>
          </a:xfrm>
          <a:prstGeom prst="line">
            <a:avLst/>
          </a:prstGeom>
          <a:noFill/>
          <a:ln w="27940">
            <a:solidFill>
              <a:srgbClr val="1155CC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726680" y="1417320"/>
            <a:ext cx="3291840" cy="1097280"/>
          </a:xfrm>
          <a:prstGeom prst="roundRect">
            <a:avLst>
              <a:gd name="adj" fmla="val 6667"/>
            </a:avLst>
          </a:prstGeom>
          <a:solidFill>
            <a:srgbClr val="FFF9E8"/>
          </a:solidFill>
          <a:ln w="12700">
            <a:solidFill>
              <a:srgbClr val="F5C4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170078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dist/*.whl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68680" y="3063240"/>
            <a:ext cx="5486400" cy="18288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B8CA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3172968"/>
            <a:ext cx="526694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uv build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wheel만 만들고 싶다면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uv build --wheel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결과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dist/iot_sensor_kit-0.1.0-py3-none-any.whl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dist/iot_sensor_kit-0.1.0.tar.gz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720840" y="3063240"/>
            <a:ext cx="4434840" cy="1828800"/>
          </a:xfrm>
          <a:prstGeom prst="roundRect">
            <a:avLst>
              <a:gd name="adj" fmla="val 4000"/>
            </a:avLst>
          </a:prstGeom>
          <a:solidFill>
            <a:srgbClr val="F7FAFF"/>
          </a:solidFill>
          <a:ln w="12700">
            <a:solidFill>
              <a:srgbClr val="B8CA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95160" y="3337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1D49"/>
                </a:solidFill>
              </a:rPr>
              <a:t>배포 전 확인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95160" y="3703320"/>
            <a:ext cx="37033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21826"/>
                </a:solidFill>
              </a:rPr>
              <a:t>✓  버전이 올바른가?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21826"/>
                </a:solidFill>
              </a:rPr>
              <a:t>✓  README/라이선스 포함?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21826"/>
                </a:solidFill>
              </a:rPr>
              <a:t>✓  테스트가 통과했는가?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21826"/>
                </a:solidFill>
              </a:rPr>
              <a:t>✓  새 환경에서 wheel 설치 가능한가?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1155CC"/>
          </a:solidFill>
          <a:ln w="12700">
            <a:solidFill>
              <a:srgbClr val="1155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643737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추가. uv · Packaging · Wheel · CI/CD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375136" y="638251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07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28600"/>
            <a:ext cx="384048" cy="384048"/>
          </a:xfrm>
          <a:prstGeom prst="rect">
            <a:avLst/>
          </a:prstGeom>
          <a:solidFill>
            <a:srgbClr val="1155CC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08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86384" y="201168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71D49"/>
                </a:solidFill>
              </a:rPr>
              <a:t>wheel 설치와 검증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86384" y="694944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06A78"/>
                </a:solidFill>
              </a:rPr>
              <a:t>배포 전에는 새 환경에서 wheel 파일만으로 설치되는지 확인합니다.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86384" y="1024128"/>
            <a:ext cx="10789920" cy="0"/>
          </a:xfrm>
          <a:prstGeom prst="line">
            <a:avLst/>
          </a:prstGeom>
          <a:noFill/>
          <a:ln w="15240">
            <a:solidFill>
              <a:srgbClr val="1155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17320"/>
            <a:ext cx="5943600" cy="1737360"/>
          </a:xfrm>
          <a:prstGeom prst="roundRect">
            <a:avLst>
              <a:gd name="adj" fmla="val 2632"/>
            </a:avLst>
          </a:prstGeom>
          <a:solidFill>
            <a:srgbClr val="F8FAFC"/>
          </a:solidFill>
          <a:ln w="12700">
            <a:solidFill>
              <a:srgbClr val="B8CA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527048"/>
            <a:ext cx="5724144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uv venv /tmp/test-wheel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source /tmp/test-wheel/bin/activate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uv pip install dist/iot_sensor_kit-0.1.0-py3-none-any.whl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-c "import iot_sensor_kit; print(iot_sensor_kit.__version__)"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995160" y="1417320"/>
            <a:ext cx="4434840" cy="1737360"/>
          </a:xfrm>
          <a:prstGeom prst="roundRect">
            <a:avLst>
              <a:gd name="adj" fmla="val 4211"/>
            </a:avLst>
          </a:prstGeom>
          <a:solidFill>
            <a:srgbClr val="EAF3FF"/>
          </a:solidFill>
          <a:ln w="12700">
            <a:solidFill>
              <a:srgbClr val="B8CA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69480" y="16916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1D49"/>
                </a:solidFill>
              </a:rPr>
              <a:t>검증 포인트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269480" y="2057400"/>
            <a:ext cx="365760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21826"/>
                </a:solidFill>
              </a:rPr>
              <a:t>✓  로컬 소스 경로 없이 import 가능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21826"/>
                </a:solidFill>
              </a:rPr>
              <a:t>✓  필수 의존성이 자동 설치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21826"/>
                </a:solidFill>
              </a:rPr>
              <a:t>✓  CLI/모듈 실행 정상 동작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85800" y="388620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FFF9E8"/>
          </a:solidFill>
          <a:ln w="12700">
            <a:solidFill>
              <a:srgbClr val="F5C4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4133088"/>
            <a:ext cx="1188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실습 예시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965960" y="41148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21826"/>
                </a:solidFill>
              </a:rPr>
              <a:t>Serial 문자열 파서 패키지를 wheel로 만든 뒤, 다른 폴더에서 설치하여 Arduino 로그를 파싱합니다.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309360" y="3886200"/>
            <a:ext cx="5120640" cy="1097280"/>
          </a:xfrm>
          <a:prstGeom prst="roundRect">
            <a:avLst>
              <a:gd name="adj" fmla="val 6667"/>
            </a:avLst>
          </a:prstGeom>
          <a:solidFill>
            <a:srgbClr val="F7FAFF"/>
          </a:solidFill>
          <a:ln w="12700">
            <a:solidFill>
              <a:srgbClr val="B8CA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4133088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55CC"/>
                </a:solidFill>
              </a:rPr>
              <a:t>현업 관점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80960" y="41148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21826"/>
                </a:solidFill>
              </a:rPr>
              <a:t>wheel 검증은 “내 PC에서만 되는 코드”를 “다른 환경에서도 설치 가능한 산출물”로 바꾸는 단계입니다.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1155CC"/>
          </a:solidFill>
          <a:ln w="12700">
            <a:solidFill>
              <a:srgbClr val="1155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643737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추가. uv · Packaging · Wheel · CI/CD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375136" y="638251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08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28600"/>
            <a:ext cx="384048" cy="384048"/>
          </a:xfrm>
          <a:prstGeom prst="rect">
            <a:avLst/>
          </a:prstGeom>
          <a:solidFill>
            <a:srgbClr val="1155CC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09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86384" y="201168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71D49"/>
                </a:solidFill>
              </a:rPr>
              <a:t>패키지 배포: TestPyPI → PyPI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86384" y="694944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06A78"/>
                </a:solidFill>
              </a:rPr>
              <a:t>실제 PyPI 배포 전 TestPyPI로 먼저 업로드하고 설치 테스트를 진행합니다.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86384" y="1024128"/>
            <a:ext cx="10789920" cy="0"/>
          </a:xfrm>
          <a:prstGeom prst="line">
            <a:avLst/>
          </a:prstGeom>
          <a:noFill/>
          <a:ln w="15240">
            <a:solidFill>
              <a:srgbClr val="1155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41732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F7FAFF"/>
          </a:solidFill>
          <a:ln w="12700">
            <a:solidFill>
              <a:srgbClr val="B8CA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66420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71D49"/>
                </a:solidFill>
              </a:rPr>
              <a:t>dist/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199339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06A78"/>
                </a:solidFill>
              </a:rPr>
              <a:t>빌드 산출물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880360" y="1938528"/>
            <a:ext cx="685800" cy="0"/>
          </a:xfrm>
          <a:prstGeom prst="line">
            <a:avLst/>
          </a:prstGeom>
          <a:noFill/>
          <a:ln w="27940">
            <a:solidFill>
              <a:srgbClr val="1155CC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566160" y="141732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F7FAFF"/>
          </a:solidFill>
          <a:ln w="12700">
            <a:solidFill>
              <a:srgbClr val="B8CA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03320" y="166420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71D49"/>
                </a:solidFill>
              </a:rPr>
              <a:t>TestPyPI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703320" y="199339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06A78"/>
                </a:solidFill>
              </a:rPr>
              <a:t>사전 검증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23560" y="1938528"/>
            <a:ext cx="685800" cy="0"/>
          </a:xfrm>
          <a:prstGeom prst="line">
            <a:avLst/>
          </a:prstGeom>
          <a:noFill/>
          <a:ln w="27940">
            <a:solidFill>
              <a:srgbClr val="1155CC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309360" y="141732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FFF9E8"/>
          </a:solidFill>
          <a:ln w="12700">
            <a:solidFill>
              <a:srgbClr val="F5C4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66420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9E0B"/>
                </a:solidFill>
              </a:rPr>
              <a:t>PyPI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46520" y="199339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06A78"/>
                </a:solidFill>
              </a:rPr>
              <a:t>정식 배포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366760" y="1938528"/>
            <a:ext cx="685800" cy="0"/>
          </a:xfrm>
          <a:prstGeom prst="line">
            <a:avLst/>
          </a:prstGeom>
          <a:noFill/>
          <a:ln w="27940">
            <a:solidFill>
              <a:srgbClr val="1155CC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052560" y="141732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F7FAFF"/>
          </a:solidFill>
          <a:ln w="12700">
            <a:solidFill>
              <a:srgbClr val="B8CA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89720" y="166420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71D49"/>
                </a:solidFill>
              </a:rPr>
              <a:t>pip/uv install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189720" y="199339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06A78"/>
                </a:solidFill>
              </a:rPr>
              <a:t>사용자 설치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68680" y="3108960"/>
            <a:ext cx="5029200" cy="1737360"/>
          </a:xfrm>
          <a:prstGeom prst="roundRect">
            <a:avLst>
              <a:gd name="adj" fmla="val 2632"/>
            </a:avLst>
          </a:prstGeom>
          <a:solidFill>
            <a:srgbClr val="F8FAFC"/>
          </a:solidFill>
          <a:ln w="12700">
            <a:solidFill>
              <a:srgbClr val="B8CA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8408" y="3218688"/>
            <a:ext cx="4809744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수동 업로드 예시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uv publish --index testpypi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uv publish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인증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UV_PUBLISH_TOKEN=...  또는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 Actions Trusted Publishing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355080" y="3108960"/>
            <a:ext cx="4800600" cy="1737360"/>
          </a:xfrm>
          <a:prstGeom prst="roundRect">
            <a:avLst>
              <a:gd name="adj" fmla="val 4211"/>
            </a:avLst>
          </a:prstGeom>
          <a:solidFill>
            <a:srgbClr val="EAF3FF"/>
          </a:solidFill>
          <a:ln w="12700">
            <a:solidFill>
              <a:srgbClr val="B8CA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33649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1D49"/>
                </a:solidFill>
              </a:rPr>
              <a:t>보안 권장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629400" y="3730752"/>
            <a:ext cx="39319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21826"/>
                </a:solidFill>
              </a:rPr>
              <a:t>✓  자동 배포는 Trusted Publishing 권장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21826"/>
                </a:solidFill>
              </a:rPr>
              <a:t>✓  GitHub에 장기 PyPI 토큰 저장 최소화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21826"/>
                </a:solidFill>
              </a:rPr>
              <a:t>✓  태그 릴리스로 배포 시점 명확화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1155CC"/>
          </a:solidFill>
          <a:ln w="12700">
            <a:solidFill>
              <a:srgbClr val="1155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643737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추가. uv · Packaging · Wheel · CI/CD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375136" y="638251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09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28600"/>
            <a:ext cx="384048" cy="384048"/>
          </a:xfrm>
          <a:prstGeom prst="rect">
            <a:avLst/>
          </a:prstGeom>
          <a:solidFill>
            <a:srgbClr val="1155CC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86384" y="201168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71D49"/>
                </a:solidFill>
              </a:rPr>
              <a:t>CI: Pull Request마다 자동 검증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86384" y="694944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06A78"/>
                </a:solidFill>
              </a:rPr>
              <a:t>코드가 합쳐지기 전에 테스트, 린트, 빌드 가능 여부를 자동 확인합니다.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86384" y="1024128"/>
            <a:ext cx="10789920" cy="0"/>
          </a:xfrm>
          <a:prstGeom prst="line">
            <a:avLst/>
          </a:prstGeom>
          <a:noFill/>
          <a:ln w="15240">
            <a:solidFill>
              <a:srgbClr val="1155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1732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EAF3FF"/>
          </a:solidFill>
          <a:ln w="12700">
            <a:solidFill>
              <a:srgbClr val="B8CA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664208"/>
            <a:ext cx="438912" cy="438912"/>
          </a:xfrm>
          <a:prstGeom prst="ellipse">
            <a:avLst/>
          </a:prstGeom>
          <a:solidFill>
            <a:srgbClr val="1155CC"/>
          </a:solidFill>
          <a:ln w="12700">
            <a:solidFill>
              <a:srgbClr val="1155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7393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70432" y="1600200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71D49"/>
                </a:solidFill>
              </a:rPr>
              <a:t>Checkout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170432" y="19385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6A78"/>
                </a:solidFill>
              </a:rPr>
              <a:t>코드 가져오기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377440" y="1901952"/>
            <a:ext cx="457200" cy="0"/>
          </a:xfrm>
          <a:prstGeom prst="line">
            <a:avLst/>
          </a:prstGeom>
          <a:noFill/>
          <a:ln w="27940">
            <a:solidFill>
              <a:srgbClr val="1155CC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834640" y="141732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F7FAFF"/>
          </a:solidFill>
          <a:ln w="12700">
            <a:solidFill>
              <a:srgbClr val="B8CA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71800" y="1664208"/>
            <a:ext cx="438912" cy="438912"/>
          </a:xfrm>
          <a:prstGeom prst="ellipse">
            <a:avLst/>
          </a:prstGeom>
          <a:solidFill>
            <a:srgbClr val="16A05D"/>
          </a:solidFill>
          <a:ln w="12700">
            <a:solidFill>
              <a:srgbClr val="16A0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77393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56432" y="1600200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71D49"/>
                </a:solidFill>
              </a:rPr>
              <a:t>setup-uv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456432" y="19385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6A78"/>
                </a:solidFill>
              </a:rPr>
              <a:t>uv 설치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63440" y="1901952"/>
            <a:ext cx="457200" cy="0"/>
          </a:xfrm>
          <a:prstGeom prst="line">
            <a:avLst/>
          </a:prstGeom>
          <a:noFill/>
          <a:ln w="27940">
            <a:solidFill>
              <a:srgbClr val="1155CC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120640" y="141732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EAF3FF"/>
          </a:solidFill>
          <a:ln w="12700">
            <a:solidFill>
              <a:srgbClr val="B8CA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57800" y="1664208"/>
            <a:ext cx="438912" cy="438912"/>
          </a:xfrm>
          <a:prstGeom prst="ellipse">
            <a:avLst/>
          </a:prstGeom>
          <a:solidFill>
            <a:srgbClr val="1155CC"/>
          </a:solidFill>
          <a:ln w="12700">
            <a:solidFill>
              <a:srgbClr val="1155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57800" y="177393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742432" y="1600200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71D49"/>
                </a:solidFill>
              </a:rPr>
              <a:t>uv sync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742432" y="19385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6A78"/>
                </a:solidFill>
              </a:rPr>
              <a:t>의존성 재현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949440" y="1901952"/>
            <a:ext cx="457200" cy="0"/>
          </a:xfrm>
          <a:prstGeom prst="line">
            <a:avLst/>
          </a:prstGeom>
          <a:noFill/>
          <a:ln w="27940">
            <a:solidFill>
              <a:srgbClr val="1155CC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406640" y="141732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F7FAFF"/>
          </a:solidFill>
          <a:ln w="12700">
            <a:solidFill>
              <a:srgbClr val="B8CA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43800" y="1664208"/>
            <a:ext cx="438912" cy="438912"/>
          </a:xfrm>
          <a:prstGeom prst="ellipse">
            <a:avLst/>
          </a:prstGeom>
          <a:solidFill>
            <a:srgbClr val="1155CC"/>
          </a:solidFill>
          <a:ln w="12700">
            <a:solidFill>
              <a:srgbClr val="1155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43800" y="177393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028432" y="1600200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71D49"/>
                </a:solidFill>
              </a:rPr>
              <a:t>uv run pytest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028432" y="19385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6A78"/>
                </a:solidFill>
              </a:rPr>
              <a:t>테스트 실행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235440" y="1901952"/>
            <a:ext cx="457200" cy="0"/>
          </a:xfrm>
          <a:prstGeom prst="line">
            <a:avLst/>
          </a:prstGeom>
          <a:noFill/>
          <a:ln w="27940">
            <a:solidFill>
              <a:srgbClr val="1155CC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692640" y="141732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EAF3FF"/>
          </a:solidFill>
          <a:ln w="12700">
            <a:solidFill>
              <a:srgbClr val="B8CA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829800" y="1664208"/>
            <a:ext cx="438912" cy="438912"/>
          </a:xfrm>
          <a:prstGeom prst="ellipse">
            <a:avLst/>
          </a:prstGeom>
          <a:solidFill>
            <a:srgbClr val="1155CC"/>
          </a:solidFill>
          <a:ln w="12700">
            <a:solidFill>
              <a:srgbClr val="1155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29800" y="177393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314432" y="1600200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71D49"/>
                </a:solidFill>
              </a:rPr>
              <a:t>uv build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10314432" y="19385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6A78"/>
                </a:solidFill>
              </a:rPr>
              <a:t>배포 파일 확인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22960" y="3063240"/>
            <a:ext cx="5669280" cy="201168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B8CA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2688" y="3172968"/>
            <a:ext cx="5449824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ci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on: [push, pull_request]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runs-on: ubuntu-latest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actions/checkout@v6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astral-sh/setup-uv@v8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run: uv sync --locked --all-groups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run: uv run pytest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run: uv build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903720" y="3063240"/>
            <a:ext cx="4343400" cy="2011680"/>
          </a:xfrm>
          <a:prstGeom prst="roundRect">
            <a:avLst>
              <a:gd name="adj" fmla="val 3636"/>
            </a:avLst>
          </a:prstGeom>
          <a:solidFill>
            <a:srgbClr val="F7FAFF"/>
          </a:solidFill>
          <a:ln w="12700">
            <a:solidFill>
              <a:srgbClr val="B8CA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78040" y="33375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1D49"/>
                </a:solidFill>
              </a:rPr>
              <a:t>CI에서 잡는 문제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178040" y="3703320"/>
            <a:ext cx="347472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21826"/>
                </a:solidFill>
              </a:rPr>
              <a:t>✓  의존성 누락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21826"/>
                </a:solidFill>
              </a:rPr>
              <a:t>✓  테스트 실패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21826"/>
                </a:solidFill>
              </a:rPr>
              <a:t>✓  패키지 빌드 실패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21826"/>
                </a:solidFill>
              </a:rPr>
              <a:t>✓  Python 버전 호환성 문제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1155CC"/>
          </a:solidFill>
          <a:ln w="12700">
            <a:solidFill>
              <a:srgbClr val="1155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" y="643737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추가. uv · Packaging · Wheel · CI/CD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1375136" y="638251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10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28600"/>
            <a:ext cx="384048" cy="384048"/>
          </a:xfrm>
          <a:prstGeom prst="rect">
            <a:avLst/>
          </a:prstGeom>
          <a:solidFill>
            <a:srgbClr val="1155CC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86384" y="201168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71D49"/>
                </a:solidFill>
              </a:rPr>
              <a:t>CD: 태그를 만들면 자동 배포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86384" y="694944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06A78"/>
                </a:solidFill>
              </a:rPr>
              <a:t>버전 태그를 기준으로 wheel을 만들고 PyPI에 안전하게 업로드합니다.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86384" y="1024128"/>
            <a:ext cx="10789920" cy="0"/>
          </a:xfrm>
          <a:prstGeom prst="line">
            <a:avLst/>
          </a:prstGeom>
          <a:noFill/>
          <a:ln w="15240">
            <a:solidFill>
              <a:srgbClr val="1155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7160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F7FAFF"/>
          </a:solidFill>
          <a:ln w="12700">
            <a:solidFill>
              <a:srgbClr val="B8CA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0020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1D49"/>
                </a:solidFill>
              </a:rPr>
              <a:t>git tag v0.1.0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93852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06A78"/>
                </a:solidFill>
              </a:rPr>
              <a:t>버전 확정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834640" y="1874520"/>
            <a:ext cx="640080" cy="0"/>
          </a:xfrm>
          <a:prstGeom prst="line">
            <a:avLst/>
          </a:prstGeom>
          <a:noFill/>
          <a:ln w="27940">
            <a:solidFill>
              <a:srgbClr val="1155CC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74720" y="137160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F7FAFF"/>
          </a:solidFill>
          <a:ln w="12700">
            <a:solidFill>
              <a:srgbClr val="B8CA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160020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1D49"/>
                </a:solidFill>
              </a:rPr>
              <a:t>GitHub Actions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66160" y="193852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06A78"/>
                </a:solidFill>
              </a:rPr>
              <a:t>빌드/검증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577840" y="1874520"/>
            <a:ext cx="640080" cy="0"/>
          </a:xfrm>
          <a:prstGeom prst="line">
            <a:avLst/>
          </a:prstGeom>
          <a:noFill/>
          <a:ln w="27940">
            <a:solidFill>
              <a:srgbClr val="1155CC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217920" y="137160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F7FAFF"/>
          </a:solidFill>
          <a:ln w="12700">
            <a:solidFill>
              <a:srgbClr val="B8CA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60020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1D49"/>
                </a:solidFill>
              </a:rPr>
              <a:t>dist/*.whl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09360" y="193852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06A78"/>
                </a:solidFill>
              </a:rPr>
              <a:t>산출물 저장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321040" y="1874520"/>
            <a:ext cx="640080" cy="0"/>
          </a:xfrm>
          <a:prstGeom prst="line">
            <a:avLst/>
          </a:prstGeom>
          <a:noFill/>
          <a:ln w="27940">
            <a:solidFill>
              <a:srgbClr val="1155CC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961120" y="137160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FFF9E8"/>
          </a:solidFill>
          <a:ln w="12700">
            <a:solidFill>
              <a:srgbClr val="F5C4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52560" y="160020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Trusted Publishing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052560" y="193852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06A78"/>
                </a:solidFill>
              </a:rPr>
              <a:t>PyPI 업로드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22960" y="2971800"/>
            <a:ext cx="5349240" cy="1965960"/>
          </a:xfrm>
          <a:prstGeom prst="roundRect">
            <a:avLst>
              <a:gd name="adj" fmla="val 2326"/>
            </a:avLst>
          </a:prstGeom>
          <a:solidFill>
            <a:srgbClr val="F8FAFC"/>
          </a:solidFill>
          <a:ln w="12700">
            <a:solidFill>
              <a:srgbClr val="B8CA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3081528"/>
            <a:ext cx="5129784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push: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tags: ["v*"]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permissions: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id-token: write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steps: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uses: actions/download-artifact@v6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uses: pypa/gh-action-pypi-publish@release/v1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583680" y="2971800"/>
            <a:ext cx="4663440" cy="1965960"/>
          </a:xfrm>
          <a:prstGeom prst="roundRect">
            <a:avLst>
              <a:gd name="adj" fmla="val 3721"/>
            </a:avLst>
          </a:prstGeom>
          <a:solidFill>
            <a:srgbClr val="EAF3FF"/>
          </a:solidFill>
          <a:ln w="12700">
            <a:solidFill>
              <a:srgbClr val="B8CA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32461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1D49"/>
                </a:solidFill>
              </a:rPr>
              <a:t>운영 규칙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58000" y="3611880"/>
            <a:ext cx="3886200" cy="6766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21826"/>
                </a:solidFill>
              </a:rPr>
              <a:t>✓  배포는 main 브랜치의 태그에서만 수행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21826"/>
                </a:solidFill>
              </a:rPr>
              <a:t>✓  TestPyPI → PyPI 순서 권장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21826"/>
                </a:solidFill>
              </a:rPr>
              <a:t>✓  GitHub Environment 승인 단계 추가 가능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1155CC"/>
          </a:solidFill>
          <a:ln w="12700">
            <a:solidFill>
              <a:srgbClr val="1155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643737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추가. uv · Packaging · Wheel · CI/CD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375136" y="638251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11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28600"/>
            <a:ext cx="384048" cy="384048"/>
          </a:xfrm>
          <a:prstGeom prst="rect">
            <a:avLst/>
          </a:prstGeom>
          <a:solidFill>
            <a:srgbClr val="1155CC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86384" y="201168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71D49"/>
                </a:solidFill>
              </a:rPr>
              <a:t>버전 관리와 릴리스 운영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86384" y="694944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06A78"/>
                </a:solidFill>
              </a:rPr>
              <a:t>패키지는 “파일”이 아니라 “버전이 있는 제품”처럼 관리합니다.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86384" y="1024128"/>
            <a:ext cx="10789920" cy="0"/>
          </a:xfrm>
          <a:prstGeom prst="line">
            <a:avLst/>
          </a:prstGeom>
          <a:noFill/>
          <a:ln w="15240">
            <a:solidFill>
              <a:srgbClr val="1155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371600"/>
            <a:ext cx="310896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B8CA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62763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55CC"/>
                </a:solidFill>
              </a:rPr>
              <a:t>SemVer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196596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21826"/>
                </a:solidFill>
              </a:rPr>
              <a:t>MAJOR.MINOR.PATCH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21826"/>
                </a:solidFill>
              </a:rPr>
              <a:t>예: 1.2.3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26280" y="1371600"/>
            <a:ext cx="3108960" cy="1234440"/>
          </a:xfrm>
          <a:prstGeom prst="roundRect">
            <a:avLst>
              <a:gd name="adj" fmla="val 5926"/>
            </a:avLst>
          </a:prstGeom>
          <a:solidFill>
            <a:srgbClr val="EAF3FF"/>
          </a:solidFill>
          <a:ln w="12700">
            <a:solidFill>
              <a:srgbClr val="B8CA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62763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55CC"/>
                </a:solidFill>
              </a:rPr>
              <a:t>uv version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800600" y="196596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version --bump patch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version 1.0.0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0" y="1371600"/>
            <a:ext cx="3108960" cy="1234440"/>
          </a:xfrm>
          <a:prstGeom prst="roundRect">
            <a:avLst>
              <a:gd name="adj" fmla="val 5926"/>
            </a:avLst>
          </a:prstGeom>
          <a:solidFill>
            <a:srgbClr val="FFF9E8"/>
          </a:solidFill>
          <a:ln w="12700">
            <a:solidFill>
              <a:srgbClr val="F5C4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58200" y="162763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9E0B"/>
                </a:solidFill>
              </a:rPr>
              <a:t>Release Note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458200" y="20299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21826"/>
                </a:solidFill>
              </a:rPr>
              <a:t>변경 사항 / 호환성 / 설치 방법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60120" y="3337560"/>
            <a:ext cx="10149840" cy="1508760"/>
          </a:xfrm>
          <a:prstGeom prst="roundRect">
            <a:avLst>
              <a:gd name="adj" fmla="val 4848"/>
            </a:avLst>
          </a:prstGeom>
          <a:solidFill>
            <a:srgbClr val="F7FAFF"/>
          </a:solidFill>
          <a:ln w="12700">
            <a:solidFill>
              <a:srgbClr val="B8CA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4440" y="36393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1D49"/>
                </a:solidFill>
              </a:rPr>
              <a:t>버전 운영 체크리스트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4005072"/>
            <a:ext cx="92354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21826"/>
                </a:solidFill>
              </a:rPr>
              <a:t>✓  기능 추가는 minor, 버그 수정은 patch를 기본으로 올립니다.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21826"/>
                </a:solidFill>
              </a:rPr>
              <a:t>✓  배포 전 CI 통과, wheel 설치 검증, TestPyPI 확인을 거칩니다.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21826"/>
                </a:solidFill>
              </a:rPr>
              <a:t>✓  깨지는 변경은 README와 릴리스 노트에 명확히 기록합니다.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1155CC"/>
          </a:solidFill>
          <a:ln w="12700">
            <a:solidFill>
              <a:srgbClr val="1155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643737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추가. uv · Packaging · Wheel · CI/CD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375136" y="638251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12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28600"/>
            <a:ext cx="384048" cy="384048"/>
          </a:xfrm>
          <a:prstGeom prst="rect">
            <a:avLst/>
          </a:prstGeom>
          <a:solidFill>
            <a:srgbClr val="1155CC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86384" y="201168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71D49"/>
                </a:solidFill>
              </a:rPr>
              <a:t>IoT 수업 예제: 센서 파서 패키지 배포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86384" y="694944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06A78"/>
                </a:solidFill>
              </a:rPr>
              <a:t>수업에서 만든 센서 문자열 처리 코드를 재사용 가능한 패키지로 분리합니다.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86384" y="1024128"/>
            <a:ext cx="10789920" cy="0"/>
          </a:xfrm>
          <a:prstGeom prst="line">
            <a:avLst/>
          </a:prstGeom>
          <a:noFill/>
          <a:ln w="15240">
            <a:solidFill>
              <a:srgbClr val="1155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17320"/>
            <a:ext cx="2194560" cy="1051560"/>
          </a:xfrm>
          <a:prstGeom prst="roundRect">
            <a:avLst>
              <a:gd name="adj" fmla="val 6957"/>
            </a:avLst>
          </a:prstGeom>
          <a:solidFill>
            <a:srgbClr val="EAF3FF"/>
          </a:solidFill>
          <a:ln w="12700">
            <a:solidFill>
              <a:srgbClr val="B8CA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6916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D49"/>
                </a:solidFill>
              </a:rPr>
              <a:t>Arduino 로그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205740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6A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TEMP:24.5,HUMI:60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926080" y="1920240"/>
            <a:ext cx="731520" cy="0"/>
          </a:xfrm>
          <a:prstGeom prst="line">
            <a:avLst/>
          </a:prstGeom>
          <a:noFill/>
          <a:ln w="27940">
            <a:solidFill>
              <a:srgbClr val="1155CC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657600" y="1417320"/>
            <a:ext cx="2194560" cy="1051560"/>
          </a:xfrm>
          <a:prstGeom prst="roundRect">
            <a:avLst>
              <a:gd name="adj" fmla="val 6957"/>
            </a:avLst>
          </a:prstGeom>
          <a:solidFill>
            <a:srgbClr val="F7FAFF"/>
          </a:solidFill>
          <a:ln w="12700">
            <a:solidFill>
              <a:srgbClr val="B8CA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94760" y="16916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5CC"/>
                </a:solidFill>
              </a:rPr>
              <a:t>iot-sensor-kit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840480" y="205740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6A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parse_sensor_line()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852160" y="1920240"/>
            <a:ext cx="731520" cy="0"/>
          </a:xfrm>
          <a:prstGeom prst="line">
            <a:avLst/>
          </a:prstGeom>
          <a:noFill/>
          <a:ln w="27940">
            <a:solidFill>
              <a:srgbClr val="1155CC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583680" y="1417320"/>
            <a:ext cx="2194560" cy="1051560"/>
          </a:xfrm>
          <a:prstGeom prst="roundRect">
            <a:avLst>
              <a:gd name="adj" fmla="val 6957"/>
            </a:avLst>
          </a:prstGeom>
          <a:solidFill>
            <a:srgbClr val="FFF9E8"/>
          </a:solidFill>
          <a:ln w="12700">
            <a:solidFill>
              <a:srgbClr val="F5C4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12280" y="16916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Wheel 배포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778240" y="1920240"/>
            <a:ext cx="731520" cy="0"/>
          </a:xfrm>
          <a:prstGeom prst="line">
            <a:avLst/>
          </a:prstGeom>
          <a:noFill/>
          <a:ln w="27940">
            <a:solidFill>
              <a:srgbClr val="1155CC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509760" y="141732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EAF3FF"/>
          </a:solidFill>
          <a:ln w="12700">
            <a:solidFill>
              <a:srgbClr val="B8CA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74352" y="1691640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D49"/>
                </a:solidFill>
              </a:rPr>
              <a:t>다른 프로젝트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68680" y="3063240"/>
            <a:ext cx="5943600" cy="1508760"/>
          </a:xfrm>
          <a:prstGeom prst="roundRect">
            <a:avLst>
              <a:gd name="adj" fmla="val 3030"/>
            </a:avLst>
          </a:prstGeom>
          <a:solidFill>
            <a:srgbClr val="F8FAFC"/>
          </a:solidFill>
          <a:ln w="12700">
            <a:solidFill>
              <a:srgbClr val="B8CA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8408" y="3172968"/>
            <a:ext cx="5724144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src/iot_sensor_kit/parser.py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parse_sensor_line(line: str) -&gt; dict: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"TEMP:24.5,HUMI:60" → {"temp": 24.5, "humi": 60}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다른 프로젝트에서 사용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iot_sensor_kit import parse_sensor_line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178040" y="3063240"/>
            <a:ext cx="4114800" cy="1508760"/>
          </a:xfrm>
          <a:prstGeom prst="roundRect">
            <a:avLst>
              <a:gd name="adj" fmla="val 4848"/>
            </a:avLst>
          </a:prstGeom>
          <a:solidFill>
            <a:srgbClr val="F7FAFF"/>
          </a:solidFill>
          <a:ln w="12700">
            <a:solidFill>
              <a:srgbClr val="B8CA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52360" y="33375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1D49"/>
                </a:solidFill>
              </a:rPr>
              <a:t>학습 효과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52360" y="3703320"/>
            <a:ext cx="338328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21826"/>
                </a:solidFill>
              </a:rPr>
              <a:t>✓  모듈 → 패키지 → 배포 흐름 이해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21826"/>
                </a:solidFill>
              </a:rPr>
              <a:t>✓  재사용 가능한 코드 설계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21826"/>
                </a:solidFill>
              </a:rPr>
              <a:t>✓  CI/CD로 품질 자동 검증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1155CC"/>
          </a:solidFill>
          <a:ln w="12700">
            <a:solidFill>
              <a:srgbClr val="1155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643737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추가. uv · Packaging · Wheel · CI/CD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375136" y="638251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13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28600"/>
            <a:ext cx="384048" cy="384048"/>
          </a:xfrm>
          <a:prstGeom prst="rect">
            <a:avLst/>
          </a:prstGeom>
          <a:solidFill>
            <a:srgbClr val="1155CC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86384" y="201168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71D49"/>
                </a:solidFill>
              </a:rPr>
              <a:t>최종 정리: uv 기반 패키지 관리 흐름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86384" y="694944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06A78"/>
                </a:solidFill>
              </a:rPr>
              <a:t>Day 2의 패키지 단원을 최신 배포 워크플로우까지 확장합니다.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86384" y="1024128"/>
            <a:ext cx="10789920" cy="0"/>
          </a:xfrm>
          <a:prstGeom prst="line">
            <a:avLst/>
          </a:prstGeom>
          <a:noFill/>
          <a:ln w="15240">
            <a:solidFill>
              <a:srgbClr val="1155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71600"/>
            <a:ext cx="1481328" cy="9144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 w="12700">
            <a:solidFill>
              <a:srgbClr val="B8CA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07008" y="1517904"/>
            <a:ext cx="438912" cy="438912"/>
          </a:xfrm>
          <a:prstGeom prst="ellipse">
            <a:avLst/>
          </a:prstGeom>
          <a:solidFill>
            <a:srgbClr val="1155CC"/>
          </a:solidFill>
          <a:ln w="12700">
            <a:solidFill>
              <a:srgbClr val="1155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07008" y="1627632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93852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71D49"/>
                </a:solidFill>
              </a:rPr>
              <a:t>프로젝트 생성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167128" y="1828800"/>
            <a:ext cx="393192" cy="0"/>
          </a:xfrm>
          <a:prstGeom prst="line">
            <a:avLst/>
          </a:prstGeom>
          <a:noFill/>
          <a:ln w="27940">
            <a:solidFill>
              <a:srgbClr val="1155CC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560320" y="1371600"/>
            <a:ext cx="1481328" cy="914400"/>
          </a:xfrm>
          <a:prstGeom prst="roundRect">
            <a:avLst>
              <a:gd name="adj" fmla="val 8000"/>
            </a:avLst>
          </a:prstGeom>
          <a:solidFill>
            <a:srgbClr val="F7FAFF"/>
          </a:solidFill>
          <a:ln w="12700">
            <a:solidFill>
              <a:srgbClr val="B8CA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81528" y="1517904"/>
            <a:ext cx="438912" cy="438912"/>
          </a:xfrm>
          <a:prstGeom prst="ellipse">
            <a:avLst/>
          </a:prstGeom>
          <a:solidFill>
            <a:srgbClr val="1155CC"/>
          </a:solidFill>
          <a:ln w="12700">
            <a:solidFill>
              <a:srgbClr val="1155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81528" y="1627632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51760" y="193852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71D49"/>
                </a:solidFill>
              </a:rPr>
              <a:t>의존성 잠금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041648" y="1828800"/>
            <a:ext cx="393192" cy="0"/>
          </a:xfrm>
          <a:prstGeom prst="line">
            <a:avLst/>
          </a:prstGeom>
          <a:noFill/>
          <a:ln w="27940">
            <a:solidFill>
              <a:srgbClr val="1155CC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434840" y="1371600"/>
            <a:ext cx="1481328" cy="9144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 w="12700">
            <a:solidFill>
              <a:srgbClr val="B8CA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56048" y="1517904"/>
            <a:ext cx="438912" cy="438912"/>
          </a:xfrm>
          <a:prstGeom prst="ellipse">
            <a:avLst/>
          </a:prstGeom>
          <a:solidFill>
            <a:srgbClr val="1155CC"/>
          </a:solidFill>
          <a:ln w="12700">
            <a:solidFill>
              <a:srgbClr val="1155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56048" y="1627632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26280" y="193852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71D49"/>
                </a:solidFill>
              </a:rPr>
              <a:t>테스트 실행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16168" y="1828800"/>
            <a:ext cx="393192" cy="0"/>
          </a:xfrm>
          <a:prstGeom prst="line">
            <a:avLst/>
          </a:prstGeom>
          <a:noFill/>
          <a:ln w="27940">
            <a:solidFill>
              <a:srgbClr val="1155CC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309360" y="1371600"/>
            <a:ext cx="1481328" cy="914400"/>
          </a:xfrm>
          <a:prstGeom prst="roundRect">
            <a:avLst>
              <a:gd name="adj" fmla="val 8000"/>
            </a:avLst>
          </a:prstGeom>
          <a:solidFill>
            <a:srgbClr val="F7FAFF"/>
          </a:solidFill>
          <a:ln w="12700">
            <a:solidFill>
              <a:srgbClr val="B8CA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30568" y="1517904"/>
            <a:ext cx="438912" cy="438912"/>
          </a:xfrm>
          <a:prstGeom prst="ellipse">
            <a:avLst/>
          </a:prstGeom>
          <a:solidFill>
            <a:srgbClr val="1155CC"/>
          </a:solidFill>
          <a:ln w="12700">
            <a:solidFill>
              <a:srgbClr val="1155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30568" y="1627632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0" y="193852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71D49"/>
                </a:solidFill>
              </a:rPr>
              <a:t>wheel 빌드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790688" y="1828800"/>
            <a:ext cx="393192" cy="0"/>
          </a:xfrm>
          <a:prstGeom prst="line">
            <a:avLst/>
          </a:prstGeom>
          <a:noFill/>
          <a:ln w="27940">
            <a:solidFill>
              <a:srgbClr val="1155CC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183880" y="1371600"/>
            <a:ext cx="1481328" cy="9144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 w="12700">
            <a:solidFill>
              <a:srgbClr val="B8CA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05088" y="1517904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05088" y="1627632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75320" y="193852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71D49"/>
                </a:solidFill>
              </a:rPr>
              <a:t>TestPyPI 검증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665208" y="1828800"/>
            <a:ext cx="393192" cy="0"/>
          </a:xfrm>
          <a:prstGeom prst="line">
            <a:avLst/>
          </a:prstGeom>
          <a:noFill/>
          <a:ln w="27940">
            <a:solidFill>
              <a:srgbClr val="1155CC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0058400" y="1371600"/>
            <a:ext cx="1481328" cy="914400"/>
          </a:xfrm>
          <a:prstGeom prst="roundRect">
            <a:avLst>
              <a:gd name="adj" fmla="val 8000"/>
            </a:avLst>
          </a:prstGeom>
          <a:solidFill>
            <a:srgbClr val="F7FAFF"/>
          </a:solidFill>
          <a:ln w="12700">
            <a:solidFill>
              <a:srgbClr val="B8CA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579608" y="1517904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579608" y="1627632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149840" y="193852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71D49"/>
                </a:solidFill>
              </a:rPr>
              <a:t>태그 기반 PyPI 배포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22960" y="3063240"/>
            <a:ext cx="4846320" cy="1417320"/>
          </a:xfrm>
          <a:prstGeom prst="roundRect">
            <a:avLst>
              <a:gd name="adj" fmla="val 5161"/>
            </a:avLst>
          </a:prstGeom>
          <a:solidFill>
            <a:srgbClr val="FFF9E8"/>
          </a:solidFill>
          <a:ln w="12700">
            <a:solidFill>
              <a:srgbClr val="F5C45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97280" y="33375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강의 메시지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97280" y="3730752"/>
            <a:ext cx="42519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21826"/>
                </a:solidFill>
              </a:rPr>
              <a:t>패키지는 코드를 파일로 묶는 것이 아니라, 버전 · 의존성 · 테스트 · 배포 절차까지 함께 관리하는 단위입니다.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263640" y="3063240"/>
            <a:ext cx="4983480" cy="1417320"/>
          </a:xfrm>
          <a:prstGeom prst="roundRect">
            <a:avLst>
              <a:gd name="adj" fmla="val 5161"/>
            </a:avLst>
          </a:prstGeom>
          <a:solidFill>
            <a:srgbClr val="F7FAFF"/>
          </a:solidFill>
          <a:ln w="12700">
            <a:solidFill>
              <a:srgbClr val="B8CA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37960" y="33375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1D49"/>
                </a:solidFill>
              </a:rPr>
              <a:t>참고한 공식 문서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537960" y="3703320"/>
            <a:ext cx="416052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21826"/>
                </a:solidFill>
              </a:rPr>
              <a:t>✓  Astral uv: build / publish / GitHub Actions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21826"/>
                </a:solidFill>
              </a:rPr>
              <a:t>✓  PyPA: pyproject.toml, GitHub Actions 배포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21826"/>
                </a:solidFill>
              </a:rPr>
              <a:t>✓  PyPI: Trusted Publishing / OIDC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1155CC"/>
          </a:solidFill>
          <a:ln w="12700">
            <a:solidFill>
              <a:srgbClr val="1155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" y="643737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추가. uv · Packaging · Wheel · CI/CD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1375136" y="638251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14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Bindsoft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Day2 uv 기반 Python 패키지 관리</dc:title>
  <dc:subject>Day2 추가 자료: uv 기반 패키징, wheel, 배포, CI/CD</dc:subject>
  <dc:creator>OpenAI</dc:creator>
  <cp:lastModifiedBy>OpenAI</cp:lastModifiedBy>
  <cp:revision>1</cp:revision>
  <dcterms:created xsi:type="dcterms:W3CDTF">2026-05-23T14:03:02Z</dcterms:created>
  <dcterms:modified xsi:type="dcterms:W3CDTF">2026-05-23T14:03:02Z</dcterms:modified>
</cp:coreProperties>
</file>