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46520"/>
            <a:ext cx="12191695" cy="0"/>
          </a:xfrm>
          <a:prstGeom prst="line">
            <a:avLst/>
          </a:prstGeom>
          <a:noFill/>
          <a:ln w="12700">
            <a:solidFill>
              <a:srgbClr val="0B48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48C6"/>
          </a:solidFill>
          <a:ln w="12700">
            <a:solidFill>
              <a:srgbClr val="0B48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4. Flask · REST API · IoT Dashboard + PyWebView GUI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2011680" cy="384048"/>
          </a:xfrm>
          <a:prstGeom prst="roundRect">
            <a:avLst/>
          </a:prstGeom>
          <a:solidFill>
            <a:srgbClr val="0B48C6"/>
          </a:solidFill>
          <a:ln>
            <a:solidFill>
              <a:srgbClr val="0B48C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Day 4 추가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14300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071B4D"/>
                </a:solidFill>
              </a:rPr>
              <a:t>PyWebView로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071B4D"/>
                </a:solidFill>
              </a:rPr>
              <a:t>GUI 앱 만들기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30352" y="292608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48C6"/>
                </a:solidFill>
              </a:rPr>
              <a:t>웹에서 배운 구조를 그대로 데스크톱 앱으로 확장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4663440" cy="1325880"/>
          </a:xfrm>
          <a:prstGeom prst="roundRect">
            <a:avLst>
              <a:gd name="adj" fmla="val 5517"/>
            </a:avLst>
          </a:prstGeom>
          <a:solidFill>
            <a:srgbClr val="F6FAFF"/>
          </a:solidFill>
          <a:ln w="13970">
            <a:solidFill>
              <a:srgbClr val="C7D7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3767328"/>
            <a:ext cx="4370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8C6"/>
                </a:solidFill>
              </a:rPr>
              <a:t>이번 추가 장표의 목표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" y="4114800"/>
            <a:ext cx="433425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71B4D"/>
                </a:solidFill>
              </a:rPr>
              <a:t>• Tkinter/Qt 대신 웹 기술을 유지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71B4D"/>
                </a:solidFill>
              </a:rPr>
              <a:t>• Python 백엔드 + HTML/CSS/JS 프론트 구조 이해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71B4D"/>
                </a:solidFill>
              </a:rPr>
              <a:t>• Timer 앱으로 “데이터만 갱신” 설계 체득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005840"/>
            <a:ext cx="1143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7D7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078992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🐍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46520" y="157276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48C6"/>
                </a:solidFill>
              </a:rPr>
              <a:t>Python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955280" y="1005840"/>
            <a:ext cx="1143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7D7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01000" y="1078992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🔌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001000" y="157276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48C6"/>
                </a:solidFill>
              </a:rPr>
              <a:t>Local API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509760" y="1005840"/>
            <a:ext cx="1143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7D7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55480" y="1078992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555480" y="157276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48C6"/>
                </a:solidFill>
              </a:rPr>
              <a:t>HTML/CSS/JS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881360" y="1005840"/>
            <a:ext cx="1143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7D7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27080" y="1078992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🖥️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0927080" y="157276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48C6"/>
                </a:solidFill>
              </a:rPr>
              <a:t>Window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543800" y="1481328"/>
            <a:ext cx="384048" cy="0"/>
          </a:xfrm>
          <a:prstGeom prst="line">
            <a:avLst/>
          </a:prstGeom>
          <a:noFill/>
          <a:ln w="25400">
            <a:solidFill>
              <a:srgbClr val="0B48C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098280" y="1481328"/>
            <a:ext cx="384048" cy="0"/>
          </a:xfrm>
          <a:prstGeom prst="line">
            <a:avLst/>
          </a:prstGeom>
          <a:noFill/>
          <a:ln w="25400">
            <a:solidFill>
              <a:srgbClr val="0B48C6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652760" y="1481328"/>
            <a:ext cx="384048" cy="0"/>
          </a:xfrm>
          <a:prstGeom prst="line">
            <a:avLst/>
          </a:prstGeom>
          <a:noFill/>
          <a:ln w="25400">
            <a:solidFill>
              <a:srgbClr val="0B48C6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217920" y="2560320"/>
            <a:ext cx="544068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3970">
            <a:solidFill>
              <a:srgbClr val="C7D7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2743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48C6"/>
                </a:solidFill>
              </a:rPr>
              <a:t>Timer 앱 최종 흐름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46520" y="309067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71B4D"/>
                </a:solidFill>
              </a:rPr>
              <a:t>Python 서버가 /api/clock JSON을 제공하고,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71B4D"/>
                </a:solidFill>
              </a:rPr>
              <a:t>프론트엔드는 1초마다 fetch로 시간/날짜 텍스트만 갱신합니다.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46520" y="3977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</a:rPr>
              <a:t>핵심: “전체 페이지 리로드”가 아니라 “필요한 DOM만 부분 갱신”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PyWebView인가?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38912" y="8686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8C6"/>
                </a:solidFill>
              </a:rPr>
              <a:t>Day 4의 웹 프로그래밍 흐름을 GUI로 자연스럽게 이어갑니다.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48C6"/>
                </a:solidFill>
              </a:rPr>
              <a:t>임베디드 · IoT 개발자 과정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283464"/>
            <a:ext cx="3200400" cy="0"/>
          </a:xfrm>
          <a:prstGeom prst="line">
            <a:avLst/>
          </a:prstGeom>
          <a:noFill/>
          <a:ln w="16510">
            <a:solidFill>
              <a:srgbClr val="0B48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08760"/>
            <a:ext cx="3200400" cy="4206240"/>
          </a:xfrm>
          <a:prstGeom prst="roundRect">
            <a:avLst>
              <a:gd name="adj" fmla="val 2286"/>
            </a:avLst>
          </a:prstGeom>
          <a:solidFill>
            <a:srgbClr val="FFF7F7"/>
          </a:solidFill>
          <a:ln w="13970">
            <a:solidFill>
              <a:srgbClr val="F2C5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1618488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4343"/>
                </a:solidFill>
              </a:rPr>
              <a:t>새 GUI 툴킷을 추가하면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1965960"/>
            <a:ext cx="2871216" cy="3675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71B4D"/>
                </a:solidFill>
              </a:rPr>
              <a:t>• Tkinter/Qt 문법을 새로 학습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71B4D"/>
                </a:solidFill>
              </a:rPr>
              <a:t>• 웹에서 만든 HTML/CSS/JS를 재사용하기 어려움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71B4D"/>
                </a:solidFill>
              </a:rPr>
              <a:t>• Flask/REST API 흐름과 단절될 수 있음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977640" y="3429000"/>
            <a:ext cx="548640" cy="0"/>
          </a:xfrm>
          <a:prstGeom prst="line">
            <a:avLst/>
          </a:prstGeom>
          <a:noFill/>
          <a:ln w="25400">
            <a:solidFill>
              <a:srgbClr val="0B48C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754880" y="1508760"/>
            <a:ext cx="3200400" cy="4206240"/>
          </a:xfrm>
          <a:prstGeom prst="roundRect">
            <a:avLst>
              <a:gd name="adj" fmla="val 2286"/>
            </a:avLst>
          </a:prstGeom>
          <a:solidFill>
            <a:srgbClr val="F6FAFF"/>
          </a:solidFill>
          <a:ln w="13970">
            <a:solidFill>
              <a:srgbClr val="C7D7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01184" y="1618488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8C6"/>
                </a:solidFill>
              </a:rPr>
              <a:t>PyWebView를 쓰면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19472" y="1965960"/>
            <a:ext cx="2871216" cy="3675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71B4D"/>
                </a:solidFill>
              </a:rPr>
              <a:t>• 웹 화면을 네이티브 창에 표시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71B4D"/>
                </a:solidFill>
              </a:rPr>
              <a:t>• Python 백엔드와 JS 프론트 연결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71B4D"/>
                </a:solidFill>
              </a:rPr>
              <a:t>• 기존 Flask/API 사고방식을 유지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83880" y="3429000"/>
            <a:ext cx="548640" cy="0"/>
          </a:xfrm>
          <a:prstGeom prst="line">
            <a:avLst/>
          </a:prstGeom>
          <a:noFill/>
          <a:ln w="25400">
            <a:solidFill>
              <a:srgbClr val="0B48C6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915400" y="1508760"/>
            <a:ext cx="2651760" cy="4206240"/>
          </a:xfrm>
          <a:prstGeom prst="roundRect">
            <a:avLst>
              <a:gd name="adj" fmla="val 2759"/>
            </a:avLst>
          </a:prstGeom>
          <a:solidFill>
            <a:srgbClr val="F8FFFA"/>
          </a:solidFill>
          <a:ln w="13970">
            <a:solidFill>
              <a:srgbClr val="B8E4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61704" y="1618488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A05F"/>
                </a:solidFill>
              </a:rPr>
              <a:t>수업 연결성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079992" y="1965960"/>
            <a:ext cx="2322576" cy="3675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71B4D"/>
                </a:solidFill>
              </a:rPr>
              <a:t>웹 대시보드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71B4D"/>
                </a:solidFill>
              </a:rPr>
              <a:t>→ 로컬 API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71B4D"/>
                </a:solidFill>
              </a:rPr>
              <a:t>→ 데스크톱 GUI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71B4D"/>
                </a:solidFill>
              </a:rPr>
              <a:t>→ 패키징/배포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94360" y="5806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A7A"/>
                </a:solidFill>
              </a:rPr>
              <a:t>pywebview는 HTML 콘텐츠를 네이티브 GUI 창에 표시하는 경량 래퍼이며, JS↔Python 통신과 내장 HTTP 서버를 제공합니다.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Timer 예제의 전체 구조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38912" y="8686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8C6"/>
                </a:solidFill>
              </a:rPr>
              <a:t>“웹 페이지”가 아니라 “데스크톱 앱 창 안에서 동작하는 웹 UI”입니다.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48C6"/>
                </a:solidFill>
              </a:rPr>
              <a:t>임베디드 · IoT 개발자 과정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283464"/>
            <a:ext cx="3200400" cy="0"/>
          </a:xfrm>
          <a:prstGeom prst="line">
            <a:avLst/>
          </a:prstGeom>
          <a:noFill/>
          <a:ln w="16510">
            <a:solidFill>
              <a:srgbClr val="0B48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828800"/>
            <a:ext cx="1143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7D7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01952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39572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48C6"/>
                </a:solidFill>
              </a:rPr>
              <a:t>main.py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28800" y="2304288"/>
            <a:ext cx="685800" cy="0"/>
          </a:xfrm>
          <a:prstGeom prst="line">
            <a:avLst/>
          </a:prstGeom>
          <a:noFill/>
          <a:ln w="25400">
            <a:solidFill>
              <a:srgbClr val="0B48C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560320" y="1828800"/>
            <a:ext cx="1143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7D7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1901952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🧩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606040" y="239572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48C6"/>
                </a:solidFill>
              </a:rPr>
              <a:t>Local Server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703320" y="2304288"/>
            <a:ext cx="685800" cy="0"/>
          </a:xfrm>
          <a:prstGeom prst="line">
            <a:avLst/>
          </a:prstGeom>
          <a:noFill/>
          <a:ln w="25400">
            <a:solidFill>
              <a:srgbClr val="0B48C6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434840" y="1828800"/>
            <a:ext cx="1143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7D7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1901952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⏰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480560" y="239572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48C6"/>
                </a:solidFill>
              </a:rPr>
              <a:t>/api/clock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77840" y="2304288"/>
            <a:ext cx="685800" cy="0"/>
          </a:xfrm>
          <a:prstGeom prst="line">
            <a:avLst/>
          </a:prstGeom>
          <a:noFill/>
          <a:ln w="25400">
            <a:solidFill>
              <a:srgbClr val="0B48C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309360" y="1828800"/>
            <a:ext cx="1143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7D7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1901952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🔁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355080" y="239572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A05F"/>
                </a:solidFill>
              </a:rPr>
              <a:t>fetch()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452360" y="2304288"/>
            <a:ext cx="685800" cy="0"/>
          </a:xfrm>
          <a:prstGeom prst="line">
            <a:avLst/>
          </a:prstGeom>
          <a:noFill/>
          <a:ln w="25400">
            <a:solidFill>
              <a:srgbClr val="0B48C6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183880" y="1828800"/>
            <a:ext cx="1143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7D7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1901952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229600" y="239572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A05F"/>
                </a:solidFill>
              </a:rPr>
              <a:t>DOM 갱신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326880" y="2304288"/>
            <a:ext cx="685800" cy="0"/>
          </a:xfrm>
          <a:prstGeom prst="line">
            <a:avLst/>
          </a:prstGeom>
          <a:noFill/>
          <a:ln w="25400">
            <a:solidFill>
              <a:srgbClr val="0B48C6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058400" y="1828800"/>
            <a:ext cx="1143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7D7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04120" y="1901952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🖥️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0104120" y="239572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A05F"/>
                </a:solidFill>
              </a:rPr>
              <a:t>WebView 창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005840" y="13258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48C6"/>
                </a:solidFill>
              </a:rPr>
              <a:t>Python 영역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583680" y="13258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A05F"/>
                </a:solidFill>
              </a:rPr>
              <a:t>Frontend 영역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31520" y="3337560"/>
            <a:ext cx="3108960" cy="1280160"/>
          </a:xfrm>
          <a:prstGeom prst="roundRect">
            <a:avLst>
              <a:gd name="adj" fmla="val 5714"/>
            </a:avLst>
          </a:prstGeom>
          <a:solidFill>
            <a:srgbClr val="F6FAFF"/>
          </a:solidFill>
          <a:ln w="13970">
            <a:solidFill>
              <a:srgbClr val="C7D7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7824" y="3447288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8C6"/>
                </a:solidFill>
              </a:rPr>
              <a:t>Python Backend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96112" y="3794760"/>
            <a:ext cx="2779776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71B4D"/>
                </a:solidFill>
              </a:rPr>
              <a:t>시간 데이터를 만들고 JSON API로 제공합니다.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26280" y="3337560"/>
            <a:ext cx="3108960" cy="1280160"/>
          </a:xfrm>
          <a:prstGeom prst="roundRect">
            <a:avLst>
              <a:gd name="adj" fmla="val 5714"/>
            </a:avLst>
          </a:prstGeom>
          <a:solidFill>
            <a:srgbClr val="F8FFFA"/>
          </a:solidFill>
          <a:ln w="13970">
            <a:solidFill>
              <a:srgbClr val="B8E4C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72584" y="3447288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A05F"/>
                </a:solidFill>
              </a:rPr>
              <a:t>JavaScript Frontend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690872" y="3794760"/>
            <a:ext cx="2779776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71B4D"/>
                </a:solidFill>
              </a:rPr>
              <a:t>1초마다 API를 호출하고 화면 텍스트만 바꿉니다.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321040" y="3337560"/>
            <a:ext cx="3108960" cy="1280160"/>
          </a:xfrm>
          <a:prstGeom prst="roundRect">
            <a:avLst>
              <a:gd name="adj" fmla="val 5714"/>
            </a:avLst>
          </a:prstGeom>
          <a:solidFill>
            <a:srgbClr val="FFFDF5"/>
          </a:solidFill>
          <a:ln w="13970">
            <a:solidFill>
              <a:srgbClr val="F4D5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67344" y="3447288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</a:rPr>
              <a:t>PyWebView Window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485632" y="3794760"/>
            <a:ext cx="2779776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71B4D"/>
                </a:solidFill>
              </a:rPr>
              <a:t>브라우저가 아닌 데스크톱 창처럼 보여줍니다.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31520" y="52120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B4D"/>
                </a:solidFill>
              </a:rPr>
              <a:t>이 구조는 Day 4의 Flask/REST API 개념을 그대로 사용하되, 배포 대상이 브라우저가 아니라 데스크톱 창으로 바뀐 것입니다.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폴더와 파일 역할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38912" y="8686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8C6"/>
                </a:solidFill>
              </a:rPr>
              <a:t>timer 예제는 백엔드, 프론트엔드, 부팅 코드를 분리합니다.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48C6"/>
                </a:solidFill>
              </a:rPr>
              <a:t>임베디드 · IoT 개발자 과정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283464"/>
            <a:ext cx="3200400" cy="0"/>
          </a:xfrm>
          <a:prstGeom prst="line">
            <a:avLst/>
          </a:prstGeom>
          <a:noFill/>
          <a:ln w="16510">
            <a:solidFill>
              <a:srgbClr val="0B48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17320"/>
            <a:ext cx="4114800" cy="3474720"/>
          </a:xfrm>
          <a:prstGeom prst="roundRect">
            <a:avLst>
              <a:gd name="adj" fmla="val 1053"/>
            </a:avLst>
          </a:prstGeom>
          <a:solidFill>
            <a:srgbClr val="F8FBFF"/>
          </a:solidFill>
          <a:ln w="12700">
            <a:solidFill>
              <a:srgbClr val="C7D7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27048"/>
            <a:ext cx="3840480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71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PyWebView/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71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timer/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71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backend/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71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server.py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71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frontend/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71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index.html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71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style.css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71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app.js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71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main.py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212080" y="141732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6FAFF"/>
          </a:solidFill>
          <a:ln w="13970">
            <a:solidFill>
              <a:srgbClr val="C7D7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58384" y="1527048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8C6"/>
                </a:solidFill>
              </a:rPr>
              <a:t>server.py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76672" y="1874520"/>
            <a:ext cx="241401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71B4D"/>
                </a:solidFill>
              </a:rPr>
              <a:t>정적 파일 서빙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71B4D"/>
                </a:solidFill>
              </a:rPr>
              <a:t>/api/clock JSON 응답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12480" y="141732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6FAFF"/>
          </a:solidFill>
          <a:ln w="13970">
            <a:solidFill>
              <a:srgbClr val="C7D7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58784" y="1527048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8C6"/>
                </a:solidFill>
              </a:rPr>
              <a:t>index.html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77072" y="1874520"/>
            <a:ext cx="241401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71B4D"/>
                </a:solidFill>
              </a:rPr>
              <a:t>시계 화면의 뼈대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71B4D"/>
                </a:solidFill>
              </a:rPr>
              <a:t>시간/날짜 영역 정의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212080" y="283464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6FAFF"/>
          </a:solidFill>
          <a:ln w="13970">
            <a:solidFill>
              <a:srgbClr val="C7D7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58384" y="2944368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8C6"/>
                </a:solidFill>
              </a:rPr>
              <a:t>style.css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76672" y="3291840"/>
            <a:ext cx="241401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71B4D"/>
                </a:solidFill>
              </a:rPr>
              <a:t>화면 스타일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71B4D"/>
                </a:solidFill>
              </a:rPr>
              <a:t>데스크톱 앱 UI 느낌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412480" y="283464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6FAFF"/>
          </a:solidFill>
          <a:ln w="13970">
            <a:solidFill>
              <a:srgbClr val="C7D7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58784" y="2944368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8C6"/>
                </a:solidFill>
              </a:rPr>
              <a:t>app.js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77072" y="3291840"/>
            <a:ext cx="241401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71B4D"/>
                </a:solidFill>
              </a:rPr>
              <a:t>fetch 호출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71B4D"/>
                </a:solidFill>
              </a:rPr>
              <a:t>DOM 텍스트 부분 갱신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212080" y="4251960"/>
            <a:ext cx="5943600" cy="960120"/>
          </a:xfrm>
          <a:prstGeom prst="roundRect">
            <a:avLst>
              <a:gd name="adj" fmla="val 7619"/>
            </a:avLst>
          </a:prstGeom>
          <a:solidFill>
            <a:srgbClr val="FFFDF5"/>
          </a:solidFill>
          <a:ln w="13970">
            <a:solidFill>
              <a:srgbClr val="F4D5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58384" y="4361688"/>
            <a:ext cx="5650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</a:rPr>
              <a:t>main.py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76672" y="4709160"/>
            <a:ext cx="5614416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71B4D"/>
                </a:solidFill>
              </a:rPr>
              <a:t>로컬 서버 시작 → WebView 창 생성 → 앱 종료 시 서버 정리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31520" y="5760720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B4D"/>
                </a:solidFill>
              </a:rPr>
              <a:t>파일 분리는 “작동하는 코드”를 “확장 가능한 프로젝트”로 바꾸는 첫 단계입니다.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단계 A: 가장 단순한 데모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38912" y="8686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8C6"/>
                </a:solidFill>
              </a:rPr>
              <a:t>먼저 PyWebView 창에 HTML 문자열을 직접 넣어 동작을 확인합니다.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48C6"/>
                </a:solidFill>
              </a:rPr>
              <a:t>임베디드 · IoT 개발자 과정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283464"/>
            <a:ext cx="3200400" cy="0"/>
          </a:xfrm>
          <a:prstGeom prst="line">
            <a:avLst/>
          </a:prstGeom>
          <a:noFill/>
          <a:ln w="16510">
            <a:solidFill>
              <a:srgbClr val="0B48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508760"/>
            <a:ext cx="4754880" cy="2103120"/>
          </a:xfrm>
          <a:prstGeom prst="roundRect">
            <a:avLst>
              <a:gd name="adj" fmla="val 1739"/>
            </a:avLst>
          </a:prstGeom>
          <a:solidFill>
            <a:srgbClr val="F8FBFF"/>
          </a:solidFill>
          <a:ln w="12700">
            <a:solidFill>
              <a:srgbClr val="C7D7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18488"/>
            <a:ext cx="448056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71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webview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71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webview.create_window(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71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"Timer",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71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html="&lt;h1&gt;Hello WebView&lt;/h1&gt;"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71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71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webview.start()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0" y="1508760"/>
            <a:ext cx="4846320" cy="2103120"/>
          </a:xfrm>
          <a:prstGeom prst="roundRect">
            <a:avLst>
              <a:gd name="adj" fmla="val 3478"/>
            </a:avLst>
          </a:prstGeom>
          <a:solidFill>
            <a:srgbClr val="F6FAFF"/>
          </a:solidFill>
          <a:ln w="13970">
            <a:solidFill>
              <a:srgbClr val="C7D7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64224" y="1618488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8C6"/>
                </a:solidFill>
              </a:rPr>
              <a:t>이 단계의 장점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82512" y="1965960"/>
            <a:ext cx="4517136" cy="1572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71B4D"/>
                </a:solidFill>
              </a:rPr>
              <a:t>• 코드가 짧아 진입 장벽이 낮음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71B4D"/>
                </a:solidFill>
              </a:rPr>
              <a:t>• 창 생성과 실행 흐름을 바로 확인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71B4D"/>
                </a:solidFill>
              </a:rPr>
              <a:t>• “GUI 창 안에 웹 화면을 넣는다”는 개념 이해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4160520"/>
            <a:ext cx="10058400" cy="1097280"/>
          </a:xfrm>
          <a:prstGeom prst="roundRect">
            <a:avLst>
              <a:gd name="adj" fmla="val 6667"/>
            </a:avLst>
          </a:prstGeom>
          <a:solidFill>
            <a:srgbClr val="FFF7F7"/>
          </a:solidFill>
          <a:ln w="13970">
            <a:solidFill>
              <a:srgbClr val="F2C5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4270248"/>
            <a:ext cx="9765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4343"/>
                </a:solidFill>
              </a:rPr>
              <a:t>하지만 곧 문제를 만납니다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78992" y="4617720"/>
            <a:ext cx="972921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71B4D"/>
                </a:solidFill>
              </a:rPr>
              <a:t>HTML/CSS/JS가 Python 문자열 안에 섞이면 가독성, 재사용성, 협업성이 떨어집니다.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단계 B: 파일 분리 후 갱신 방식 문제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38912" y="8686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8C6"/>
                </a:solidFill>
              </a:rPr>
              <a:t>HTML/CSS를 분리해도 “페이지 전체 리로드” 방식은 좋은 구조가 아닙니다.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48C6"/>
                </a:solidFill>
              </a:rPr>
              <a:t>임베디드 · IoT 개발자 과정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283464"/>
            <a:ext cx="3200400" cy="0"/>
          </a:xfrm>
          <a:prstGeom prst="line">
            <a:avLst/>
          </a:prstGeom>
          <a:noFill/>
          <a:ln w="16510">
            <a:solidFill>
              <a:srgbClr val="0B48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6304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FFF7F7"/>
          </a:solidFill>
          <a:ln w="13970">
            <a:solidFill>
              <a:srgbClr val="F2C5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1572768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4343"/>
                </a:solidFill>
              </a:rPr>
              <a:t>문제 상황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0392" y="1920240"/>
            <a:ext cx="3054096" cy="3035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71B4D"/>
                </a:solidFill>
              </a:rPr>
              <a:t>시간을 갱신하려고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71B4D"/>
                </a:solidFill>
              </a:rPr>
              <a:t>페이지 전체를 반복 로드하면?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71B4D"/>
                </a:solidFill>
              </a:rPr>
              <a:t>✕ 렌더링 비용 증가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71B4D"/>
                </a:solidFill>
              </a:rPr>
              <a:t>✕ 깜빡임/검은 화면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71B4D"/>
                </a:solidFill>
              </a:rPr>
              <a:t>✕ UI 상태 초기화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97680" y="3063240"/>
            <a:ext cx="640080" cy="0"/>
          </a:xfrm>
          <a:prstGeom prst="line">
            <a:avLst/>
          </a:prstGeom>
          <a:noFill/>
          <a:ln w="25400">
            <a:solidFill>
              <a:srgbClr val="0B48C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166360" y="1463040"/>
            <a:ext cx="2834640" cy="3566160"/>
          </a:xfrm>
          <a:prstGeom prst="roundRect">
            <a:avLst>
              <a:gd name="adj" fmla="val 2581"/>
            </a:avLst>
          </a:prstGeom>
          <a:solidFill>
            <a:srgbClr val="F6FAFF"/>
          </a:solidFill>
          <a:ln w="13970">
            <a:solidFill>
              <a:srgbClr val="C7D7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12664" y="157276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8C6"/>
                </a:solidFill>
              </a:rPr>
              <a:t>해결 방향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30952" y="1920240"/>
            <a:ext cx="2505456" cy="3035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71B4D"/>
                </a:solidFill>
              </a:rPr>
              <a:t>페이지 전체가 아니라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71B4D"/>
                </a:solidFill>
              </a:rPr>
              <a:t>“데이터만” 가져오기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71B4D"/>
                </a:solidFill>
              </a:rPr>
              <a:t>• JSON API 호출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71B4D"/>
                </a:solidFill>
              </a:rPr>
              <a:t>• 필요한 DOM만 변경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71B4D"/>
                </a:solidFill>
              </a:rPr>
              <a:t>• 실패 시 에러 처리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0" y="3063240"/>
            <a:ext cx="640080" cy="0"/>
          </a:xfrm>
          <a:prstGeom prst="line">
            <a:avLst/>
          </a:prstGeom>
          <a:noFill/>
          <a:ln w="25400">
            <a:solidFill>
              <a:srgbClr val="0B48C6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098280" y="1463040"/>
            <a:ext cx="2423160" cy="3566160"/>
          </a:xfrm>
          <a:prstGeom prst="roundRect">
            <a:avLst>
              <a:gd name="adj" fmla="val 3019"/>
            </a:avLst>
          </a:prstGeom>
          <a:solidFill>
            <a:srgbClr val="F8FFFA"/>
          </a:solidFill>
          <a:ln w="13970">
            <a:solidFill>
              <a:srgbClr val="B8E4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44584" y="1572768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A05F"/>
                </a:solidFill>
              </a:rPr>
              <a:t>핵심 원칙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262872" y="1920240"/>
            <a:ext cx="2093976" cy="3035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71B4D"/>
                </a:solidFill>
              </a:rPr>
              <a:t>화면 갱신의 최소 단위는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71B4D"/>
                </a:solidFill>
              </a:rPr>
              <a:t>페이지 전체가 아니라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71B4D"/>
                </a:solidFill>
              </a:rPr>
              <a:t>필요한 DOM 노드입니다.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단계 C: 프론트/백엔드 분리 + JSON API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38912" y="8686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8C6"/>
                </a:solidFill>
              </a:rPr>
              <a:t>Timer 앱은 localhost API를 통해 시간 데이터를 주고받습니다.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48C6"/>
                </a:solidFill>
              </a:rPr>
              <a:t>임베디드 · IoT 개발자 과정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283464"/>
            <a:ext cx="3200400" cy="0"/>
          </a:xfrm>
          <a:prstGeom prst="line">
            <a:avLst/>
          </a:prstGeom>
          <a:noFill/>
          <a:ln w="16510">
            <a:solidFill>
              <a:srgbClr val="0B48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08760"/>
            <a:ext cx="3200400" cy="2194560"/>
          </a:xfrm>
          <a:prstGeom prst="roundRect">
            <a:avLst>
              <a:gd name="adj" fmla="val 1667"/>
            </a:avLst>
          </a:prstGeom>
          <a:solidFill>
            <a:srgbClr val="F8FBFF"/>
          </a:solidFill>
          <a:ln w="12700">
            <a:solidFill>
              <a:srgbClr val="C7D7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18488"/>
            <a:ext cx="292608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71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/api/clock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71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71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"time": "14:23:51",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71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"date": "2026년 5월 19일"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71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754880" y="1783080"/>
            <a:ext cx="1143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7D7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856232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🐍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800600" y="235000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48C6"/>
                </a:solidFill>
              </a:rPr>
              <a:t>Python Server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897880" y="2267712"/>
            <a:ext cx="594360" cy="0"/>
          </a:xfrm>
          <a:prstGeom prst="line">
            <a:avLst/>
          </a:prstGeom>
          <a:noFill/>
          <a:ln w="25400">
            <a:solidFill>
              <a:srgbClr val="0B48C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629400" y="1783080"/>
            <a:ext cx="1143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7D7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1856232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🔌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675120" y="235000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48C6"/>
                </a:solidFill>
              </a:rPr>
              <a:t>JSON API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772400" y="2267712"/>
            <a:ext cx="594360" cy="0"/>
          </a:xfrm>
          <a:prstGeom prst="line">
            <a:avLst/>
          </a:prstGeom>
          <a:noFill/>
          <a:ln w="25400">
            <a:solidFill>
              <a:srgbClr val="0B48C6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503920" y="1783080"/>
            <a:ext cx="1143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7D7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9640" y="1856232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549640" y="235000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48C6"/>
                </a:solidFill>
              </a:rPr>
              <a:t>JavaScript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646920" y="2267712"/>
            <a:ext cx="594360" cy="0"/>
          </a:xfrm>
          <a:prstGeom prst="line">
            <a:avLst/>
          </a:prstGeom>
          <a:noFill/>
          <a:ln w="25400">
            <a:solidFill>
              <a:srgbClr val="0B48C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378440" y="1783080"/>
            <a:ext cx="1143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7D7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24160" y="1856232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0424160" y="235000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48C6"/>
                </a:solidFill>
              </a:rPr>
              <a:t>DOM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31520" y="4069080"/>
            <a:ext cx="3200400" cy="1143000"/>
          </a:xfrm>
          <a:prstGeom prst="roundRect">
            <a:avLst>
              <a:gd name="adj" fmla="val 6400"/>
            </a:avLst>
          </a:prstGeom>
          <a:solidFill>
            <a:srgbClr val="F6FAFF"/>
          </a:solidFill>
          <a:ln w="13970">
            <a:solidFill>
              <a:srgbClr val="C7D7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7824" y="4178808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8C6"/>
                </a:solidFill>
              </a:rPr>
              <a:t>서버 역할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96112" y="4526280"/>
            <a:ext cx="287121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71B4D"/>
                </a:solidFill>
              </a:rPr>
              <a:t>현재 시간/날짜 계산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71B4D"/>
                </a:solidFill>
              </a:rPr>
              <a:t>JSON 응답 생성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480560" y="4069080"/>
            <a:ext cx="3200400" cy="1143000"/>
          </a:xfrm>
          <a:prstGeom prst="roundRect">
            <a:avLst>
              <a:gd name="adj" fmla="val 6400"/>
            </a:avLst>
          </a:prstGeom>
          <a:solidFill>
            <a:srgbClr val="F8FFFA"/>
          </a:solidFill>
          <a:ln w="13970">
            <a:solidFill>
              <a:srgbClr val="B8E4C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4178808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A05F"/>
                </a:solidFill>
              </a:rPr>
              <a:t>프론트 역할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45152" y="4526280"/>
            <a:ext cx="287121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71B4D"/>
                </a:solidFill>
              </a:rPr>
              <a:t>1초마다 fetch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71B4D"/>
                </a:solidFill>
              </a:rPr>
              <a:t>텍스트만 갱신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229600" y="4069080"/>
            <a:ext cx="3200400" cy="1143000"/>
          </a:xfrm>
          <a:prstGeom prst="roundRect">
            <a:avLst>
              <a:gd name="adj" fmla="val 6400"/>
            </a:avLst>
          </a:prstGeom>
          <a:solidFill>
            <a:srgbClr val="FFFDF5"/>
          </a:solidFill>
          <a:ln w="13970">
            <a:solidFill>
              <a:srgbClr val="F4D5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75904" y="4178808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</a:rPr>
              <a:t>설계 장점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394192" y="4526280"/>
            <a:ext cx="287121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71B4D"/>
                </a:solidFill>
              </a:rPr>
              <a:t>확장 쉬움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71B4D"/>
                </a:solidFill>
              </a:rPr>
              <a:t>에러 처리 쉬움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71B4D"/>
                </a:solidFill>
              </a:rPr>
              <a:t>화면 안정적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Backend: /api/clock 만들기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38912" y="8686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8C6"/>
                </a:solidFill>
              </a:rPr>
              <a:t>서버는 시간을 계산해서 JSON으로 제공합니다.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48C6"/>
                </a:solidFill>
              </a:rPr>
              <a:t>임베디드 · IoT 개발자 과정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283464"/>
            <a:ext cx="3200400" cy="0"/>
          </a:xfrm>
          <a:prstGeom prst="line">
            <a:avLst/>
          </a:prstGeom>
          <a:noFill/>
          <a:ln w="16510">
            <a:solidFill>
              <a:srgbClr val="0B48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417320"/>
            <a:ext cx="4846320" cy="3246120"/>
          </a:xfrm>
          <a:prstGeom prst="roundRect">
            <a:avLst>
              <a:gd name="adj" fmla="val 1127"/>
            </a:avLst>
          </a:prstGeom>
          <a:solidFill>
            <a:srgbClr val="F8FBFF"/>
          </a:solidFill>
          <a:ln w="12700">
            <a:solidFill>
              <a:srgbClr val="C7D7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27048"/>
            <a:ext cx="4572000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71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datetime import datetime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71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@app.get("/api/clock")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71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clock():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71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now = datetime.now()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71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71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"time": now.strftime("%H:%M:%S"),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71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"date": now.strftime("%Y년 %m월 %d일")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71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417320"/>
            <a:ext cx="4572000" cy="1051560"/>
          </a:xfrm>
          <a:prstGeom prst="roundRect">
            <a:avLst>
              <a:gd name="adj" fmla="val 6957"/>
            </a:avLst>
          </a:prstGeom>
          <a:solidFill>
            <a:srgbClr val="F6FAFF"/>
          </a:solidFill>
          <a:ln w="13970">
            <a:solidFill>
              <a:srgbClr val="C7D7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64224" y="1527048"/>
            <a:ext cx="4279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8C6"/>
                </a:solidFill>
              </a:rPr>
              <a:t>API가 하는 일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82512" y="1874520"/>
            <a:ext cx="424281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71B4D"/>
                </a:solidFill>
              </a:rPr>
              <a:t>프론트엔드가 직접 시간을 계산하지 않고, Python 백엔드가 데이터를 제공합니다.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2788920"/>
            <a:ext cx="4572000" cy="1051560"/>
          </a:xfrm>
          <a:prstGeom prst="roundRect">
            <a:avLst>
              <a:gd name="adj" fmla="val 6957"/>
            </a:avLst>
          </a:prstGeom>
          <a:solidFill>
            <a:srgbClr val="FFFDF5"/>
          </a:solidFill>
          <a:ln w="13970">
            <a:solidFill>
              <a:srgbClr val="F4D5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64224" y="2898648"/>
            <a:ext cx="4279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</a:rPr>
              <a:t>포트 관리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82512" y="3246120"/>
            <a:ext cx="424281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71B4D"/>
                </a:solidFill>
              </a:rPr>
              <a:t>포트를 0으로 바인딩하면 사용 가능한 포트를 자동 할당할 수 있습니다.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4160520"/>
            <a:ext cx="4572000" cy="1051560"/>
          </a:xfrm>
          <a:prstGeom prst="roundRect">
            <a:avLst>
              <a:gd name="adj" fmla="val 6957"/>
            </a:avLst>
          </a:prstGeom>
          <a:solidFill>
            <a:srgbClr val="F8FFFA"/>
          </a:solidFill>
          <a:ln w="13970">
            <a:solidFill>
              <a:srgbClr val="B8E4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64224" y="4270248"/>
            <a:ext cx="4279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A05F"/>
                </a:solidFill>
              </a:rPr>
              <a:t>안정성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82512" y="4617720"/>
            <a:ext cx="424281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71B4D"/>
                </a:solidFill>
              </a:rPr>
              <a:t>API 실패, 포트 충돌, 종료 정리 같은 예외 상황을 백엔드에서 관리합니다.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Frontend: fetch로 텍스트만 갱신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38912" y="8686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8C6"/>
                </a:solidFill>
              </a:rPr>
              <a:t>JavaScript는 작은 역할만 맡깁니다: API 호출과 DOM 업데이트.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48C6"/>
                </a:solidFill>
              </a:rPr>
              <a:t>임베디드 · IoT 개발자 과정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283464"/>
            <a:ext cx="3200400" cy="0"/>
          </a:xfrm>
          <a:prstGeom prst="line">
            <a:avLst/>
          </a:prstGeom>
          <a:noFill/>
          <a:ln w="16510">
            <a:solidFill>
              <a:srgbClr val="0B48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417320"/>
            <a:ext cx="4846320" cy="3246120"/>
          </a:xfrm>
          <a:prstGeom prst="roundRect">
            <a:avLst>
              <a:gd name="adj" fmla="val 1127"/>
            </a:avLst>
          </a:prstGeom>
          <a:solidFill>
            <a:srgbClr val="F8FBFF"/>
          </a:solidFill>
          <a:ln w="12700">
            <a:solidFill>
              <a:srgbClr val="C7D7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27048"/>
            <a:ext cx="4572000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71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updateClock()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71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 = await fetch('/api/clock');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71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data = await res.json();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71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timeEl.textContent = data.time;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71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dateEl.textContent = data.date;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71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71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setInterval(updateClock, 1000);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508760"/>
            <a:ext cx="4663440" cy="914400"/>
          </a:xfrm>
          <a:prstGeom prst="roundRect">
            <a:avLst>
              <a:gd name="adj" fmla="val 8000"/>
            </a:avLst>
          </a:prstGeom>
          <a:solidFill>
            <a:srgbClr val="F6FAFF"/>
          </a:solidFill>
          <a:ln w="13970">
            <a:solidFill>
              <a:srgbClr val="C7D7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64224" y="1618488"/>
            <a:ext cx="4370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8C6"/>
                </a:solidFill>
              </a:rPr>
              <a:t>1초마다 호출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82512" y="1965960"/>
            <a:ext cx="433425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71B4D"/>
                </a:solidFill>
              </a:rPr>
              <a:t>setInterval로 주기적으로 API를 호출합니다.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2788920"/>
            <a:ext cx="4663440" cy="914400"/>
          </a:xfrm>
          <a:prstGeom prst="roundRect">
            <a:avLst>
              <a:gd name="adj" fmla="val 8000"/>
            </a:avLst>
          </a:prstGeom>
          <a:solidFill>
            <a:srgbClr val="F8FFFA"/>
          </a:solidFill>
          <a:ln w="13970">
            <a:solidFill>
              <a:srgbClr val="B8E4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64224" y="2898648"/>
            <a:ext cx="4370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A05F"/>
                </a:solidFill>
              </a:rPr>
              <a:t>부분 갱신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82512" y="3246120"/>
            <a:ext cx="433425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71B4D"/>
                </a:solidFill>
              </a:rPr>
              <a:t>문서 전체를 다시 읽지 않고 time/date 노드만 바꿉니다.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17920" y="4069080"/>
            <a:ext cx="4663440" cy="914400"/>
          </a:xfrm>
          <a:prstGeom prst="roundRect">
            <a:avLst>
              <a:gd name="adj" fmla="val 8000"/>
            </a:avLst>
          </a:prstGeom>
          <a:solidFill>
            <a:srgbClr val="FFFDF5"/>
          </a:solidFill>
          <a:ln w="13970">
            <a:solidFill>
              <a:srgbClr val="F4D5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64224" y="4178808"/>
            <a:ext cx="4370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</a:rPr>
              <a:t>에러 처리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82512" y="4526280"/>
            <a:ext cx="433425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71B4D"/>
                </a:solidFill>
              </a:rPr>
              <a:t>fetch 실패 시 화면 전체가 멈추지 않도록 상태 표시를 준비합니다.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main.py: 앱 라이프사이클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38912" y="8686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8C6"/>
                </a:solidFill>
              </a:rPr>
              <a:t>main.py는 서버와 창을 함께 시작하고 종료 시 정리합니다.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48C6"/>
                </a:solidFill>
              </a:rPr>
              <a:t>임베디드 · IoT 개발자 과정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283464"/>
            <a:ext cx="3200400" cy="0"/>
          </a:xfrm>
          <a:prstGeom prst="line">
            <a:avLst/>
          </a:prstGeom>
          <a:noFill/>
          <a:ln w="16510">
            <a:solidFill>
              <a:srgbClr val="0B48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28800"/>
            <a:ext cx="1143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7D7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01952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▶️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239572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48C6"/>
                </a:solidFill>
              </a:rPr>
              <a:t>서버 시작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74520" y="2304288"/>
            <a:ext cx="978408" cy="0"/>
          </a:xfrm>
          <a:prstGeom prst="line">
            <a:avLst/>
          </a:prstGeom>
          <a:noFill/>
          <a:ln w="25400">
            <a:solidFill>
              <a:srgbClr val="0B48C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26080" y="1828800"/>
            <a:ext cx="1143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7D7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1800" y="1901952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971800" y="239572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48C6"/>
                </a:solidFill>
              </a:rPr>
              <a:t>URL 확보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069080" y="2304288"/>
            <a:ext cx="978408" cy="0"/>
          </a:xfrm>
          <a:prstGeom prst="line">
            <a:avLst/>
          </a:prstGeom>
          <a:noFill/>
          <a:ln w="25400">
            <a:solidFill>
              <a:srgbClr val="0B48C6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20640" y="1828800"/>
            <a:ext cx="1143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7D7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66360" y="1901952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🖥️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166360" y="239572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48C6"/>
                </a:solidFill>
              </a:rPr>
              <a:t>WebView 생성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63640" y="2304288"/>
            <a:ext cx="978408" cy="0"/>
          </a:xfrm>
          <a:prstGeom prst="line">
            <a:avLst/>
          </a:prstGeom>
          <a:noFill/>
          <a:ln w="25400">
            <a:solidFill>
              <a:srgbClr val="0B48C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15200" y="1828800"/>
            <a:ext cx="1143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7D7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60920" y="1901952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360920" y="239572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48C6"/>
                </a:solidFill>
              </a:rPr>
              <a:t>앱 실행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458200" y="2304288"/>
            <a:ext cx="978408" cy="0"/>
          </a:xfrm>
          <a:prstGeom prst="line">
            <a:avLst/>
          </a:prstGeom>
          <a:noFill/>
          <a:ln w="25400">
            <a:solidFill>
              <a:srgbClr val="0B48C6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509760" y="1828800"/>
            <a:ext cx="1143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7D7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55480" y="1901952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🛑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555480" y="239572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4343"/>
                </a:solidFill>
              </a:rPr>
              <a:t>서버 종료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31520" y="3703320"/>
            <a:ext cx="3017520" cy="1188720"/>
          </a:xfrm>
          <a:prstGeom prst="roundRect">
            <a:avLst>
              <a:gd name="adj" fmla="val 6154"/>
            </a:avLst>
          </a:prstGeom>
          <a:solidFill>
            <a:srgbClr val="F6FAFF"/>
          </a:solidFill>
          <a:ln w="13970">
            <a:solidFill>
              <a:srgbClr val="C7D7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" y="3813048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8C6"/>
                </a:solidFill>
              </a:rPr>
              <a:t>실행 시작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96112" y="4160520"/>
            <a:ext cx="268833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71B4D"/>
                </a:solidFill>
              </a:rPr>
              <a:t>Python 백엔드 서버를 먼저 실행합니다.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572000" y="3703320"/>
            <a:ext cx="3017520" cy="1188720"/>
          </a:xfrm>
          <a:prstGeom prst="roundRect">
            <a:avLst>
              <a:gd name="adj" fmla="val 6154"/>
            </a:avLst>
          </a:prstGeom>
          <a:solidFill>
            <a:srgbClr val="F8FFFA"/>
          </a:solidFill>
          <a:ln w="13970">
            <a:solidFill>
              <a:srgbClr val="B8E4C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18304" y="3813048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A05F"/>
                </a:solidFill>
              </a:rPr>
              <a:t>창 생성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736592" y="4160520"/>
            <a:ext cx="268833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71B4D"/>
                </a:solidFill>
              </a:rPr>
              <a:t>서버 URL을 PyWebView 창에 로드합니다.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412480" y="3703320"/>
            <a:ext cx="3017520" cy="1188720"/>
          </a:xfrm>
          <a:prstGeom prst="roundRect">
            <a:avLst>
              <a:gd name="adj" fmla="val 6154"/>
            </a:avLst>
          </a:prstGeom>
          <a:solidFill>
            <a:srgbClr val="FFF7F7"/>
          </a:solidFill>
          <a:ln w="13970">
            <a:solidFill>
              <a:srgbClr val="F2C5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58784" y="3813048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4343"/>
                </a:solidFill>
              </a:rPr>
              <a:t>종료 정리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577072" y="4160520"/>
            <a:ext cx="268833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71B4D"/>
                </a:solidFill>
              </a:rPr>
              <a:t>앱 종료 시 서버 리소스를 정리합니다.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14400" y="55778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71B4D"/>
                </a:solidFill>
              </a:rPr>
              <a:t>GUI 앱도 웹 서버처럼 “시작 → 사용 → 종료” 라이프사이클을 설계해야 합니다.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운영: 90분 흐름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38912" y="8686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8C6"/>
                </a:solidFill>
              </a:rPr>
              <a:t>정답 구조를 바로 주기보다, 문제를 경험한 뒤 구조를 개선합니다.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48C6"/>
                </a:solidFill>
              </a:rPr>
              <a:t>임베디드 · IoT 개발자 과정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283464"/>
            <a:ext cx="3200400" cy="0"/>
          </a:xfrm>
          <a:prstGeom prst="line">
            <a:avLst/>
          </a:prstGeom>
          <a:noFill/>
          <a:ln w="16510">
            <a:solidFill>
              <a:srgbClr val="0B48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25880"/>
            <a:ext cx="1005840" cy="384048"/>
          </a:xfrm>
          <a:prstGeom prst="roundRect">
            <a:avLst>
              <a:gd name="adj" fmla="val 16667"/>
            </a:avLst>
          </a:prstGeom>
          <a:solidFill>
            <a:srgbClr val="0B48C6"/>
          </a:solidFill>
          <a:ln w="12700">
            <a:solidFill>
              <a:srgbClr val="0B48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5331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0~15분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74520" y="1252728"/>
            <a:ext cx="96012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3970">
            <a:solidFill>
              <a:srgbClr val="C7D7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20824" y="1362456"/>
            <a:ext cx="9308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8C6"/>
                </a:solidFill>
              </a:rPr>
              <a:t>단순 데모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39112" y="1709928"/>
            <a:ext cx="9272016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71B4D"/>
                </a:solidFill>
              </a:rPr>
              <a:t>HTML 문자열로 창 띄우기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2194560"/>
            <a:ext cx="1005840" cy="384048"/>
          </a:xfrm>
          <a:prstGeom prst="roundRect">
            <a:avLst>
              <a:gd name="adj" fmla="val 16667"/>
            </a:avLst>
          </a:prstGeom>
          <a:solidFill>
            <a:srgbClr val="0B48C6"/>
          </a:solidFill>
          <a:ln w="12700">
            <a:solidFill>
              <a:srgbClr val="0B48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2219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15~30분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74520" y="2121408"/>
            <a:ext cx="96012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3970">
            <a:solidFill>
              <a:srgbClr val="C7D7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20824" y="2231136"/>
            <a:ext cx="9308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8C6"/>
                </a:solidFill>
              </a:rPr>
              <a:t>문제 재현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39112" y="2578608"/>
            <a:ext cx="9272016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71B4D"/>
                </a:solidFill>
              </a:rPr>
              <a:t>파일 분리와 전체 리로드의 한계 체험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3063240"/>
            <a:ext cx="1005840" cy="384048"/>
          </a:xfrm>
          <a:prstGeom prst="roundRect">
            <a:avLst>
              <a:gd name="adj" fmla="val 16667"/>
            </a:avLst>
          </a:prstGeom>
          <a:solidFill>
            <a:srgbClr val="15A05F"/>
          </a:solidFill>
          <a:ln w="12700">
            <a:solidFill>
              <a:srgbClr val="15A0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09067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30~55분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874520" y="2990088"/>
            <a:ext cx="96012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3970">
            <a:solidFill>
              <a:srgbClr val="C7D7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20824" y="3099816"/>
            <a:ext cx="9308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8C6"/>
                </a:solidFill>
              </a:rPr>
              <a:t>구조 전환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039112" y="3447288"/>
            <a:ext cx="9272016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71B4D"/>
                </a:solidFill>
              </a:rPr>
              <a:t>JSON API + DOM 부분 갱신 구현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5800" y="3931920"/>
            <a:ext cx="1005840" cy="384048"/>
          </a:xfrm>
          <a:prstGeom prst="roundRect">
            <a:avLst>
              <a:gd name="adj" fmla="val 16667"/>
            </a:avLst>
          </a:prstGeom>
          <a:solidFill>
            <a:srgbClr val="15A05F"/>
          </a:solidFill>
          <a:ln w="12700">
            <a:solidFill>
              <a:srgbClr val="15A0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95935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55~75분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874520" y="3858768"/>
            <a:ext cx="96012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3970">
            <a:solidFill>
              <a:srgbClr val="C7D7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20824" y="3968496"/>
            <a:ext cx="9308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8C6"/>
                </a:solidFill>
              </a:rPr>
              <a:t>파일 정리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039112" y="4315968"/>
            <a:ext cx="9272016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71B4D"/>
                </a:solidFill>
              </a:rPr>
              <a:t>backend/frontend/main.py 역할 분리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85800" y="4800600"/>
            <a:ext cx="1005840" cy="384048"/>
          </a:xfrm>
          <a:prstGeom prst="roundRect">
            <a:avLst>
              <a:gd name="adj" fmla="val 16667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82803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75~90분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874520" y="4727448"/>
            <a:ext cx="96012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3970">
            <a:solidFill>
              <a:srgbClr val="C7D7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20824" y="4837176"/>
            <a:ext cx="9308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8C6"/>
                </a:solidFill>
              </a:rPr>
              <a:t>확장 발표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039112" y="5184648"/>
            <a:ext cx="9272016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71B4D"/>
                </a:solidFill>
              </a:rPr>
              <a:t>시간 포맷/상태 API/에러 처리 개선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7724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FFFDF5"/>
          </a:solidFill>
          <a:ln w="13970">
            <a:solidFill>
              <a:srgbClr val="F4D5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3544" y="5824728"/>
            <a:ext cx="10405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</a:rPr>
              <a:t>강사용 운영 메모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41832" y="6172200"/>
            <a:ext cx="10369296" cy="-27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71B4D"/>
                </a:solidFill>
              </a:rPr>
              <a:t>데모 실패는 문제 정의의 재료입니다. 학생에게 각 파일의 역할을 한 줄로 설명하게 하세요.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확장 과제와 다음 연결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38912" y="8686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8C6"/>
                </a:solidFill>
              </a:rPr>
              <a:t>Timer 앱은 GUI 프로젝트의 가장 작은 출발점입니다.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48C6"/>
                </a:solidFill>
              </a:rPr>
              <a:t>임베디드 · IoT 개발자 과정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283464"/>
            <a:ext cx="3200400" cy="0"/>
          </a:xfrm>
          <a:prstGeom prst="line">
            <a:avLst/>
          </a:prstGeom>
          <a:noFill/>
          <a:ln w="16510">
            <a:solidFill>
              <a:srgbClr val="0B48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1732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F6FAFF"/>
          </a:solidFill>
          <a:ln w="13970">
            <a:solidFill>
              <a:srgbClr val="C7D7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527048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8C6"/>
                </a:solidFill>
              </a:rPr>
              <a:t>기능 확장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1874520"/>
            <a:ext cx="2962656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71B4D"/>
                </a:solidFill>
              </a:rPr>
              <a:t>• 타임존 선택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71B4D"/>
                </a:solidFill>
              </a:rPr>
              <a:t>• 12/24시간 토글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71B4D"/>
                </a:solidFill>
              </a:rPr>
              <a:t>• 초 표시 on/off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F8FFFA"/>
          </a:solidFill>
          <a:ln w="13970">
            <a:solidFill>
              <a:srgbClr val="B8E4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81144" y="1527048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A05F"/>
                </a:solidFill>
              </a:rPr>
              <a:t>상태 API 추가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99432" y="1874520"/>
            <a:ext cx="2962656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71B4D"/>
                </a:solidFill>
              </a:rPr>
              <a:t>• /api/health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71B4D"/>
                </a:solidFill>
              </a:rPr>
              <a:t>• 연결 상태 배지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71B4D"/>
                </a:solidFill>
              </a:rPr>
              <a:t>• API 실패 메시지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38160" y="141732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FFFDF5"/>
          </a:solidFill>
          <a:ln w="13970">
            <a:solidFill>
              <a:srgbClr val="F4D5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84464" y="1527048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</a:rPr>
              <a:t>구조 고도화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02752" y="1874520"/>
            <a:ext cx="2962656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71B4D"/>
                </a:solidFill>
              </a:rPr>
              <a:t>• routes/clock.py 분리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71B4D"/>
                </a:solidFill>
              </a:rPr>
              <a:t>• JS 모듈화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71B4D"/>
                </a:solidFill>
              </a:rPr>
              <a:t>• config.py 도입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14400" y="4251960"/>
            <a:ext cx="1143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7D7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325112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⏰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60120" y="48188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48C6"/>
                </a:solidFill>
              </a:rPr>
              <a:t>Timer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057400" y="4736592"/>
            <a:ext cx="822960" cy="0"/>
          </a:xfrm>
          <a:prstGeom prst="line">
            <a:avLst/>
          </a:prstGeom>
          <a:noFill/>
          <a:ln w="25400">
            <a:solidFill>
              <a:srgbClr val="0B48C6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017520" y="4251960"/>
            <a:ext cx="1143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7D7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63240" y="4325112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🖱️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063240" y="48188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48C6"/>
                </a:solidFill>
              </a:rPr>
              <a:t>Click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60520" y="4736592"/>
            <a:ext cx="822960" cy="0"/>
          </a:xfrm>
          <a:prstGeom prst="line">
            <a:avLst/>
          </a:prstGeom>
          <a:noFill/>
          <a:ln w="25400">
            <a:solidFill>
              <a:srgbClr val="0B48C6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120640" y="4251960"/>
            <a:ext cx="1143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7D7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4325112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📁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166360" y="48188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48C6"/>
                </a:solidFill>
              </a:rPr>
              <a:t>File IO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63640" y="4736592"/>
            <a:ext cx="822960" cy="0"/>
          </a:xfrm>
          <a:prstGeom prst="line">
            <a:avLst/>
          </a:prstGeom>
          <a:noFill/>
          <a:ln w="25400">
            <a:solidFill>
              <a:srgbClr val="0B48C6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223760" y="4251960"/>
            <a:ext cx="1143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7D7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69480" y="4325112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269480" y="48188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48C6"/>
                </a:solidFill>
              </a:rPr>
              <a:t>CRUD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366760" y="4736592"/>
            <a:ext cx="822960" cy="0"/>
          </a:xfrm>
          <a:prstGeom prst="line">
            <a:avLst/>
          </a:prstGeom>
          <a:noFill/>
          <a:ln w="25400">
            <a:solidFill>
              <a:srgbClr val="0B48C6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326880" y="4251960"/>
            <a:ext cx="1143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7D7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72600" y="4325112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🗄️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9372600" y="48188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48C6"/>
                </a:solidFill>
              </a:rPr>
              <a:t>SQLite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68680" y="57150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B4D"/>
                </a:solidFill>
              </a:rPr>
              <a:t>웹 대시보드 경험을 그대로 유지하면서, 로컬 데스크톱 앱과 데이터 관리 앱으로 확장합니다.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B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참고 자료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38912" y="8686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8C6"/>
                </a:solidFill>
              </a:rPr>
              <a:t>장표 작성에 사용한 소스와 공식 문서입니다.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48C6"/>
                </a:solidFill>
              </a:rPr>
              <a:t>임베디드 · IoT 개발자 과정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283464"/>
            <a:ext cx="3200400" cy="0"/>
          </a:xfrm>
          <a:prstGeom prst="line">
            <a:avLst/>
          </a:prstGeom>
          <a:noFill/>
          <a:ln w="16510">
            <a:solidFill>
              <a:srgbClr val="0B48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417320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F6FAFF"/>
          </a:solidFill>
          <a:ln w="13970">
            <a:solidFill>
              <a:srgbClr val="C7D7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1527048"/>
            <a:ext cx="10314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8C6"/>
                </a:solidFill>
              </a:rPr>
              <a:t>수업 소스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1874520"/>
            <a:ext cx="1027785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71B4D"/>
                </a:solidFill>
              </a:rPr>
              <a:t>freshmea/kuBig2026 · PyWebView 폴더: timer 예제, README 구조, 실행 방법 참고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2743200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F8FFFA"/>
          </a:solidFill>
          <a:ln w="13970">
            <a:solidFill>
              <a:srgbClr val="B8E4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2852928"/>
            <a:ext cx="10314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A05F"/>
                </a:solidFill>
              </a:rPr>
              <a:t>1번 예제 문서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87552" y="3200400"/>
            <a:ext cx="1027785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71B4D"/>
                </a:solidFill>
              </a:rPr>
              <a:t>01_수업자료_웹뷰_단계별_실습.md: 단계 A~D, /api/clock, DOM 부분 갱신, 90분 운영안 참고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4069080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FFFDF5"/>
          </a:solidFill>
          <a:ln w="13970">
            <a:solidFill>
              <a:srgbClr val="F4D5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4178808"/>
            <a:ext cx="10314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</a:rPr>
              <a:t>pywebview 공식 문서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87552" y="4526280"/>
            <a:ext cx="1027785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71B4D"/>
                </a:solidFill>
              </a:rPr>
              <a:t>create_window, webview.start, JS API bridge, 내장 HTTP 서버, 로컬 서버/서버리스 구조 참고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57150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B4D"/>
                </a:solidFill>
              </a:rPr>
              <a:t>핵심 메시지: 새 GUI 문법을 추가로 배우기보다, Day 4의 웹/REST/API 흐름을 데스크톱 GUI로 자연스럽게 확장합니다.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Bindsoft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Day4 PyWebView Timer GUI</dc:title>
  <dc:subject>Day4 PyWebView Timer GUI 추가 장표</dc:subject>
  <dc:creator>OpenAI</dc:creator>
  <cp:lastModifiedBy>OpenAI</cp:lastModifiedBy>
  <cp:revision>1</cp:revision>
  <dcterms:created xsi:type="dcterms:W3CDTF">2026-05-23T14:38:05Z</dcterms:created>
  <dcterms:modified xsi:type="dcterms:W3CDTF">2026-05-23T14:38:05Z</dcterms:modified>
</cp:coreProperties>
</file>