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287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Python Native Binding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13381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파이썬에서 C/C++/Rust/Java/.NET 코드 사용하기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9E"/>
                </a:solidFill>
              </a:rPr>
              <a:t>왜 배우나?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2971800" cy="3291840"/>
          </a:xfrm>
          <a:prstGeom prst="roundRect">
            <a:avLst>
              <a:gd name="adj" fmla="val 3692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95528" y="2039112"/>
            <a:ext cx="2569464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Python은 빠르게 개발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C/C++/Rust는 성능과 시스템 제어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Java/.NET은 기존 자산 활용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Binding은 두 세계를 연결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279392" y="2194560"/>
            <a:ext cx="10881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Python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2450592"/>
            <a:ext cx="36576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52160" y="21488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38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25312" y="2194560"/>
            <a:ext cx="10881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Wrapper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2450592"/>
            <a:ext cx="36576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498080" y="21488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71232" y="2194560"/>
            <a:ext cx="10881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Native Binary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32520" y="2450592"/>
            <a:ext cx="36576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0" y="21488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6B5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217152" y="2194560"/>
            <a:ext cx="10881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외부 런타임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33375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학생 목표: “파이썬 코드처럼 호출하지만, 내부는 컴파일 언어가 실행되는 구조” 이해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114800" y="4572000"/>
            <a:ext cx="6583680" cy="777240"/>
          </a:xfrm>
          <a:prstGeom prst="roundRect">
            <a:avLst>
              <a:gd name="adj" fmla="val 14118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15968" y="4736592"/>
            <a:ext cx="6181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핵심 구조: native 구현 → Python wrapper → type stub(.pyi) → 실습 코드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언제 Binding을 쓰는가?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성능·하드웨어·기존 라이브러리·플랫폼 API가 필요한 순간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" y="176479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성능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205740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반복 계산·영상 처리·수치 연산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FF8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11880" y="16916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721608" y="176479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하드웨어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75888" y="205740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장비 SDK, 드라이버, C DLL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46520" y="16916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56248" y="176479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기존 자산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10528" y="205740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회사 내부 C++/C# 라이브러리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15544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FF8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281160" y="16916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390888" y="176479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플랫폼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45168" y="205740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OS API, Java/.NET 생태계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68680" y="411480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78408" y="418795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Python만으로 충분할 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" y="4480560"/>
            <a:ext cx="44439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• 문법 학습, 데이터 처리, 자동화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• 속도보다 개발 생산성이 중요한 경우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92240" y="397764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629400" y="411480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739128" y="418795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Binding이 필요한 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93408" y="4480560"/>
            <a:ext cx="44439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• 외부 바이너리·SDK를 반드시 써야 함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• 성능 병목을 컴파일 언어로 분리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native_extension 폴더 전체 구조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제공된 예제는 “여러 언어 바인딩 방식”을 비교하도록 구성되어 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4480560" cy="530352"/>
          </a:xfrm>
          <a:prstGeom prst="roundRect">
            <a:avLst>
              <a:gd name="adj" fmla="val 2069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32688" y="130759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C_binding/simple_wrapper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143000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779008" y="1307592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C 함수 + Python wrapper class + .pyi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1856232"/>
            <a:ext cx="4480560" cy="530352"/>
          </a:xfrm>
          <a:prstGeom prst="roundRect">
            <a:avLst>
              <a:gd name="adj" fmla="val 2069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32688" y="2020824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C_binding/cpython_type_extension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0" y="1856232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79008" y="202082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C에서 Python object/type 직접 구현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569464"/>
            <a:ext cx="4480560" cy="530352"/>
          </a:xfrm>
          <a:prstGeom prst="roundRect">
            <a:avLst>
              <a:gd name="adj" fmla="val 2069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32688" y="2734056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Cpp_binding/pybind11_hello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2569464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779008" y="2734056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C++ 함수·class를 Python module로 노출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282696"/>
            <a:ext cx="4480560" cy="530352"/>
          </a:xfrm>
          <a:prstGeom prst="roundRect">
            <a:avLst>
              <a:gd name="adj" fmla="val 2069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32688" y="3447288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Rust_binding/pyo3_hello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3282696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779008" y="3447288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Rust로 .pyd/.so extension module 생성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995928"/>
            <a:ext cx="4480560" cy="530352"/>
          </a:xfrm>
          <a:prstGeom prst="roundRect">
            <a:avLst>
              <a:gd name="adj" fmla="val 2069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2688" y="4160520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Java_binding/jpype_jar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3995928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779008" y="4160520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Python 프로세스에서 JVM 시작 후 .jar 호출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709160"/>
            <a:ext cx="4480560" cy="530352"/>
          </a:xfrm>
          <a:prstGeom prst="roundRect">
            <a:avLst>
              <a:gd name="adj" fmla="val 2069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32688" y="487375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DotNet_binding/pythonnet_classlib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77840" y="4709160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779008" y="4873752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CLR 로딩 후 C# .dll assembly 호출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5486400"/>
            <a:ext cx="10241280" cy="502920"/>
          </a:xfrm>
          <a:prstGeom prst="roundRect">
            <a:avLst>
              <a:gd name="adj" fmla="val 21818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32688" y="5650992"/>
            <a:ext cx="983894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추천 실습 순서: C simple_wrapper → Rust PyO3 → C++ pybind11 → Java JPype → .NET pythonnet → CPython type extension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Binding의 공통 레이어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“바이너리 구현”과 “Python 사용자 API”를 분리해서 설계합니다.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04672" y="18745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Native 구현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C/C++/Rust/Java/C#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2313432"/>
            <a:ext cx="429768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44952" y="18745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Build 설정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setup.py / Cargo / javac / dotnet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313432"/>
            <a:ext cx="429768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21208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6B5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85232" y="18745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Binary 산출물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.pyd .so .dll .jar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2313432"/>
            <a:ext cx="429768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45236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25512" y="18745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Python Wrapper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친숙한 class/function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2313432"/>
            <a:ext cx="429768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69264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38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765792" y="187452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Type Stub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.pyi + py.typed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399" y="3931920"/>
            <a:ext cx="3230881" cy="1223554"/>
          </a:xfrm>
          <a:prstGeom prst="roundRect">
            <a:avLst>
              <a:gd name="adj" fmla="val 10435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51560" y="40690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161288" y="4142231"/>
            <a:ext cx="2615184" cy="26517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설계 원칙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434840"/>
            <a:ext cx="2798064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Native 코드는 작고 명확하게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4480560" y="3931920"/>
            <a:ext cx="3200400" cy="1223554"/>
          </a:xfrm>
          <a:prstGeom prst="roundRect">
            <a:avLst>
              <a:gd name="adj" fmla="val 10435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617720" y="40690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27448" y="4081268"/>
            <a:ext cx="2615184" cy="34747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</a:rPr>
              <a:t>설계</a:t>
            </a: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 dirty="0" err="1">
                <a:solidFill>
                  <a:srgbClr val="FFFFFF"/>
                </a:solidFill>
              </a:rPr>
              <a:t>원칙</a:t>
            </a:r>
            <a:r>
              <a:rPr lang="en-US" sz="1300" b="1" dirty="0">
                <a:solidFill>
                  <a:srgbClr val="FFFFFF"/>
                </a:solidFill>
              </a:rPr>
              <a:t>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1728" y="4434840"/>
            <a:ext cx="2798064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사용자는 Python class로 사용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200400" cy="1223554"/>
          </a:xfrm>
          <a:prstGeom prst="roundRect">
            <a:avLst>
              <a:gd name="adj" fmla="val 10435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83880" y="40690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293608" y="41422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설계 원칙 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47888" y="4434840"/>
            <a:ext cx="2798064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.pyi로 IDE와 타입 검사 지원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C Binding: simple_wrapper 구조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C extension은 낮은 수준 함수만 제공하고, Python이 사용자 API를 감쌉니다.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2926080" cy="4343400"/>
          </a:xfrm>
          <a:prstGeom prst="roundRect">
            <a:avLst>
              <a:gd name="adj" fmla="val 375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" y="1444752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파일 구조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2523744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simple_wrapper/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  setup.py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  simple_hello/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    _hello_core.c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    hello.py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    hello.pyi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    __init__.py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    py.typed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86200" y="132588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995928" y="1417320"/>
            <a:ext cx="3438144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_hello_core.c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PyObject *make_greeting(...){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char *name;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PyArg_ParseTuple(args, "s", &amp;name);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PyUnicode_FromFormat("hello, %s!", 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PyMODINIT_FUNC PyInit__hello_core(void){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PyModule_Create(&amp;hello_core_module);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132588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927848" y="1417320"/>
            <a:ext cx="3346704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 import _hello_core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Hello: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name: str):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 -&gt; str: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_hello_core.make_greeting(self.name)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4343400"/>
            <a:ext cx="7498080" cy="9144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023360" y="448056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33088" y="455371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왜 이렇게 나누나?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87368" y="4846320"/>
            <a:ext cx="709574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C API 복잡도는 숨기고, 학생은 Python class처럼 사용합니다.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setup.py: C extension 빌드 설정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어떤 C 파일을 어떤 Python 모듈 이름으로 빌드할지 정의합니다.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04088" y="1417320"/>
            <a:ext cx="4992624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setuptools import Extension, setup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name="simple-hello",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packages=["simple_hello"],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ext_modules=[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Extension(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"simple_hello._hello_core",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["simple_hello/_hello_core.c"],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package_data={"simple_hello": ["*.pyi", "py.typed"]},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9088" y="153619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Extension 이름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3368" y="1828800"/>
            <a:ext cx="480974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import할 모듈 경로와 일치해야 합니다.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172200" y="251460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309360" y="265176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19088" y="272491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소스 파일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73368" y="3017520"/>
            <a:ext cx="4809744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컴파일할 C 파일 경로를 지정합니다.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19088" y="39136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타입 정보 포함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73368" y="4206240"/>
            <a:ext cx="4809744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.pyi와 py.typed를 배포에 포함합니다.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172200" y="4892040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73368" y="5056632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실습 명령: python setup.py build_ext --inplace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C++ Binding: pybind11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C++ 함수와 클래스를 Python 모듈로 쉽게 노출합니다.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03520" cy="4251960"/>
          </a:xfrm>
          <a:prstGeom prst="roundRect">
            <a:avLst>
              <a:gd name="adj" fmla="val 1290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04088" y="1325880"/>
            <a:ext cx="5084064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src/cpp_hello.cpp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&lt;pybind11/pybind11.h&gt;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Hello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Hello(std::string name) : name_(name) {}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std::string greet() const { return "hello, " + name_;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 return a + b;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PYBIND11_MODULE(cpp_hello, m)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m.def("add", &amp;add);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pybind11::class_&lt;Hello&gt;(m, "Hello")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.def(pybind11::init&lt;std::string&gt;())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.def("greet", &amp;Hello::greet);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73368" y="132588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setup.py 핵심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"cpp_hello",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["src/cpp_hello.cpp"],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include_dirs=[pybind11.get_include()],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language="c++",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사용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= cpp_hello.Hello("Python")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print(hello.greet())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print(cpp_hello.add(3, 4))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4663440"/>
            <a:ext cx="5303520" cy="777240"/>
          </a:xfrm>
          <a:prstGeom prst="roundRect">
            <a:avLst>
              <a:gd name="adj" fmla="val 14118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64808" y="4828032"/>
            <a:ext cx="490118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pybind11은 header-only 방식으로 C++ 타입을 Python 타입처럼 보이게 만듭니다.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Rust Binding: PyO3 + maturin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Rust 함수를 Python extension module로 만들어 import합니다.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9808" y="1371600"/>
            <a:ext cx="4992624" cy="3429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src/lib.rs 예시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pyo3::prelude::*;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#[pyfunction]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add(a: i32, b: i32) -&gt; i32 { a + b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#[pyclass]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Hello { name: String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#[pymodule]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rust_hello(m: &amp;Bound&lt;'_, PyModule&gt;) -&gt; PyResult&lt;()&gt;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m.add_function(wrap_pyfunction!(add, m)?)?;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37160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Cargo.toml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1984248"/>
            <a:ext cx="0" cy="237744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6B5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73952" y="233172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pyproject.toml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2944368"/>
            <a:ext cx="0" cy="237744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0" y="32461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38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73952" y="329184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maturin develop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3904488"/>
            <a:ext cx="0" cy="237744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00800" y="42062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73952" y="425196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import rust_hello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525780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01968" y="5422392"/>
            <a:ext cx="362102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PyO3: #[pyfunction], #[pyclass], #[pymodule]이 핵심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JVM/CLR Binding: JPype와 pythonnet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바이너리 module을 만드는 대신, Python 프로세스에서 외부 런타임을 로딩합니다.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5303520" cy="3886200"/>
          </a:xfrm>
          <a:prstGeom prst="roundRect">
            <a:avLst>
              <a:gd name="adj" fmla="val 2824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" y="153619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 + JPype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828800"/>
            <a:ext cx="4901184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Java 구현은 .jar 파일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Python에서 JVM 시작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wrapper package가 class loading을 숨김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JDK 필요: javac, jar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03520" cy="3886200"/>
          </a:xfrm>
          <a:prstGeom prst="roundRect">
            <a:avLst>
              <a:gd name="adj" fmla="val 2824"/>
            </a:avLst>
          </a:prstGeom>
          <a:solidFill>
            <a:srgbClr val="F6F3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10528" y="153619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.NET + pythonnet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64808" y="1828800"/>
            <a:ext cx="4901184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C# 구현은 .dll assembly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CLR runtime 로딩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clr.AddReference로 assembly 참조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.pyi로 Python API 설명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920240" y="54406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993392" y="548640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Python Wrapper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5715000"/>
            <a:ext cx="82296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0" y="54406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B5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45152" y="548640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JVM / CLR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5715000"/>
            <a:ext cx="82296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223760" y="54406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296912" y="548640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.jar / .dll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.pyi와 py.typed: 타입 정보를 제공하는 이유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바이너리 모듈은 IDE가 내부 구현을 읽기 어렵기 때문에 별도의 타입 설명이 필요합니다.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4572000" cy="1920240"/>
          </a:xfrm>
          <a:prstGeom prst="roundRect">
            <a:avLst>
              <a:gd name="adj" fmla="val 2857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" y="1508760"/>
            <a:ext cx="4352544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hello.pyi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Hello: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name: str) -&gt; None: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 -&gt; str: ...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print_hello() -&gt; None: 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141732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852160" y="15544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61888" y="16276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.pyi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16168" y="1920240"/>
            <a:ext cx="4901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실행 코드는 아니고, Python에서 보이는 API와 타입을 설명합니다.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715000" y="265176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852160" y="278892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61888" y="286207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py.typed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16168" y="3154680"/>
            <a:ext cx="49011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이 패키지가 타입 정보를 제공한다는 표시 파일입니다.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19"/>
            <a:ext cx="10332720" cy="1561011"/>
          </a:xfrm>
          <a:prstGeom prst="roundRect">
            <a:avLst>
              <a:gd name="adj" fmla="val 10435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" y="42976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32688" y="43708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교육 포인트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6968" y="4663440"/>
            <a:ext cx="993038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B1F3A"/>
                </a:solidFill>
              </a:rPr>
              <a:t>외부 언어로 구현해도 “사용자가 보는 API”는 Pythonic하게 설계해야 합니다. .pyi는 문서, 자동완성, 타입 검사에 모두 도움이 됩니다.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실습: 직접 바인딩 코드 작성 흐름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C 함수 2개를 만들고 Python class로 감싸서 사용합니다.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1. C 함수 작성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691640"/>
            <a:ext cx="50292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26080" y="13716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38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99232" y="141732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2. setup.py 작성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50292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212080" y="13716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85232" y="141732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3. 빌드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691640"/>
            <a:ext cx="50292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498080" y="13716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6B5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71232" y="141732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4. Python wrapper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1691640"/>
            <a:ext cx="50292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13716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857232" y="141732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5. 사용 코드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25603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2688" y="2651760"/>
            <a:ext cx="4535424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실습 명령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setup.py build_ext --inplace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-c "from simple_hello import Hello; print(Hello('IoT').greet())"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80760" y="256032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0E1726"/>
          </a:solidFill>
          <a:ln w="12700">
            <a:solidFill>
              <a:srgbClr val="243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90488" y="2651760"/>
            <a:ext cx="4809744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목표 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simple_hello import Hello, print_hello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Hello("IoT")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print(h.greet())      # hello, IoT!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print_hello()         # C에서 출력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4983480"/>
            <a:ext cx="10332720" cy="640080"/>
          </a:xfrm>
          <a:prstGeom prst="roundRect">
            <a:avLst>
              <a:gd name="adj" fmla="val 17143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24128" y="5148072"/>
            <a:ext cx="993038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성공 기준: Python 사용자는 C 파일 존재를 몰라도 Hello 클래스를 자연스럽게 사용할 수 있어야 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문제 해결 체크리스트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바인딩 실습에서 자주 발생하는 오류와 원인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1307592"/>
            <a:ext cx="1002182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컴파일러 없음  →  Windows: Visual Studio Build Tools / x64 Native Tools 필요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4128" y="2130552"/>
            <a:ext cx="1002182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import 실패  →  모듈 이름, 빌드 위치, Python 버전/아키텍처 확인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24128" y="2953512"/>
            <a:ext cx="1002182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DLL/JAR 못 찾음  →  PATH, sys.path, runtime 경로 확인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24128" y="3776472"/>
            <a:ext cx="1002182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타입 힌트 안 보임  →  .pyi 파일과 py.typed 포함 여부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24128" y="4599432"/>
            <a:ext cx="1002182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배포 실패  →  운영체제별 wheel, ABI, 런타임 의존성 확인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48640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FFF1F1"/>
          </a:solidFill>
          <a:ln w="12700">
            <a:solidFill>
              <a:srgbClr val="F3A0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24128" y="5650992"/>
            <a:ext cx="1002182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주의: Native wheel은 OS, CPU, Python ABI에 영향을 받으므로 “내 PC에서만 되는 문제”가 자주 발생합니다.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Mini Project: IoT 고속 계산 모듈 바인딩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센서 데이터 보정 계산을 C/C++/Rust 중 하나로 작성하고 Python에서 사용합니다.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" y="13990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요구사항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691640"/>
            <a:ext cx="3026664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calibrate(value, offset, scale)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moving_avg(values)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Python wrapper class SensorMath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.pyi 작성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Flask/pywebview 예제에 연결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27448" y="13990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평가 기준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1728" y="1691640"/>
            <a:ext cx="3026664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Python API가 직관적인가?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빌드 명령이 README에 있는가?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타입 힌트가 보이는가?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오류 시 원인을 설명하는가?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데모가 재현 가능한가?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321040" y="1188720"/>
            <a:ext cx="2926080" cy="3840480"/>
          </a:xfrm>
          <a:prstGeom prst="roundRect">
            <a:avLst>
              <a:gd name="adj" fmla="val 3750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458200" y="1325880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567928" y="1399032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추천 산출물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22208" y="1691640"/>
            <a:ext cx="2523744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소스 코드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빌드 결과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사용 예제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README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</a:rPr>
              <a:t>• 발표 3분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출처와 참고 자료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60120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수업 자료 작성에 활용한 저장소와 공식 문서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428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추가 자료 · Native Binding · 외부 컴파일 언어 모듈 활용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84280" y="6382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3F8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78408" y="149047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수업 저장소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1783080"/>
            <a:ext cx="4992624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freshmea/kuBig2026 PyWebView/native_extension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C simple_wrapper: C 함수 + Python wrapper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Rust PyO3, C++ pybind11, Java JPype, .NET pythonnet 예제 포함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8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537960" y="141732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F4E9E"/>
          </a:solidFill>
          <a:ln w="12700">
            <a:solidFill>
              <a:srgbClr val="1F4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47688" y="149047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공식/주요 문서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01968" y="1783080"/>
            <a:ext cx="4626864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Python Extending &amp; Embedding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Python/C API Reference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pybind11 documentation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PyO3 user guide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• Python.NET documentation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486400"/>
            <a:ext cx="10698480" cy="502920"/>
          </a:xfrm>
          <a:prstGeom prst="roundRect">
            <a:avLst>
              <a:gd name="adj" fmla="val 21818"/>
            </a:avLst>
          </a:prstGeom>
          <a:solidFill>
            <a:srgbClr val="FFF8E8"/>
          </a:solidFill>
          <a:ln w="12700">
            <a:solidFill>
              <a:srgbClr val="F6C3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32688" y="5650992"/>
            <a:ext cx="1029614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</a:rPr>
              <a:t>핵심 메시지: Native Binding은 “성능/기존 자산/하드웨어”를 Python 프로젝트에 연결하는 실무 기술입니다.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1933</Words>
  <Application>Microsoft Office PowerPoint</Application>
  <PresentationFormat>와이드스크린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Aptos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Day3 Native Binding</dc:title>
  <dc:subject>Day3 추가 자료: Python Native Binding</dc:subject>
  <dc:creator>OpenAI</dc:creator>
  <cp:lastModifiedBy>Sugil Choi</cp:lastModifiedBy>
  <cp:revision>2</cp:revision>
  <dcterms:created xsi:type="dcterms:W3CDTF">2026-05-23T15:23:03Z</dcterms:created>
  <dcterms:modified xsi:type="dcterms:W3CDTF">2026-05-23T15:31:32Z</dcterms:modified>
</cp:coreProperties>
</file>